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7"/>
    <p:sldId id="267" r:id="rId18"/>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888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90" autoAdjust="0"/>
  </p:normalViewPr>
  <p:slideViewPr>
    <p:cSldViewPr snapToGrid="0">
      <p:cViewPr varScale="1">
        <p:scale>
          <a:sx n="59" d="100"/>
          <a:sy n="59" d="100"/>
        </p:scale>
        <p:origin x="201"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2.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Avg income per trip</c:v>
                </c:pt>
              </c:strCache>
            </c:strRef>
          </c:tx>
          <c:spPr>
            <a:solidFill>
              <a:srgbClr val="0B4A80"/>
            </a:solidFill>
          </c:spPr>
          <c:cat>
            <c:strRef>
              <c:f>Sheet1!$A$2:$A$6</c:f>
              <c:strCache>
                <c:ptCount val="5"/>
                <c:pt idx="0">
                  <c:v>Manhattan</c:v>
                </c:pt>
                <c:pt idx="1">
                  <c:v>Bronx</c:v>
                </c:pt>
                <c:pt idx="2">
                  <c:v>Brooklyn</c:v>
                </c:pt>
                <c:pt idx="3">
                  <c:v>Queens</c:v>
                </c:pt>
                <c:pt idx="4">
                  <c:v>Staten Island</c:v>
                </c:pt>
              </c:strCache>
            </c:strRef>
          </c:cat>
          <c:val>
            <c:numRef>
              <c:f>Sheet1!$B$2:$B$6</c:f>
              <c:numCache>
                <c:formatCode>General</c:formatCode>
                <c:ptCount val="5"/>
                <c:pt idx="0">
                  <c:v>14.62</c:v>
                </c:pt>
                <c:pt idx="1">
                  <c:v>27.35</c:v>
                </c:pt>
                <c:pt idx="2">
                  <c:v>28.43</c:v>
                </c:pt>
                <c:pt idx="3">
                  <c:v>33.44</c:v>
                </c:pt>
                <c:pt idx="4">
                  <c:v>65.29</c:v>
                </c:pt>
              </c:numCache>
            </c:numRef>
          </c:val>
        </c:ser>
        <c:dLbls>
          <c:numFmt formatCode="&quot;$&quot;0.00" sourceLinked="0"/>
          <c:txPr>
            <a:bodyPr/>
            <a:lstStyle/>
            <a:p>
              <a:pPr>
                <a:defRPr sz="1100">
                  <a:solidFill>
                    <a:srgbClr val="3333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9D9D9"/>
            </a:solidFill>
          </a:ln>
        </c:spPr>
        <c:txPr>
          <a:bodyPr/>
          <a:lstStyle/>
          <a:p>
            <a:pPr>
              <a:defRPr>
                <a:solidFill>
                  <a:srgbClr val="888888"/>
                </a:solidFill>
              </a:defRPr>
            </a:pPr>
          </a:p>
        </c:txPr>
        <c:crossAx val="-2113994440"/>
        <c:crosses val="autoZero"/>
        <c:auto val="1"/>
        <c:lblAlgn val="ctr"/>
        <c:lblOffset val="100"/>
        <c:noMultiLvlLbl val="0"/>
      </c:catAx>
      <c:valAx>
        <c:axId val="-2113994440"/>
        <c:scaling>
          <c:max val="80.0"/>
        </c:scaling>
        <c:delete/>
        <c:axPos val="b"/>
        <c:majorTickMark val="out"/>
        <c:minorTickMark val="none"/>
        <c:tickLblPos val="nextTo"/>
        <c:spPr>
          <a:ln>
            <a:noFill/>
          </a:ln>
        </c:spPr>
        <c:txPr>
          <a:bodyPr/>
          <a:lstStyle/>
          <a:p>
            <a:pPr>
              <a:defRPr>
                <a:solidFill>
                  <a:srgbClr val="888888"/>
                </a:solidFill>
              </a:defRPr>
            </a:pPr>
          </a:p>
        </c:txPr>
        <c:crossAx val="-2068027336"/>
        <c:crosses val="autoZero"/>
      </c:valAx>
    </c:plotArea>
    <c:dispBlanksAs val="gap"/>
  </c:chart>
  <c:txPr>
    <a:bodyPr/>
    <a:lstStyle/>
    <a:p>
      <a:pPr>
        <a:defRPr sz="1100">
          <a:solidFill>
            <a:srgbClr val="333333"/>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Avg income per trip</c:v>
                </c:pt>
              </c:strCache>
            </c:strRef>
          </c:tx>
          <c:dPt>
            <c:idx val="0"/>
            <c:spPr>
              <a:solidFill>
                <a:srgbClr val="0B4A80"/>
              </a:solidFill>
            </c:spPr>
          </c:dPt>
          <c:dPt>
            <c:idx val="1"/>
            <c:spPr>
              <a:solidFill>
                <a:srgbClr val="D9D9D9"/>
              </a:solidFill>
            </c:spPr>
          </c:dPt>
          <c:dPt>
            <c:idx val="2"/>
            <c:spPr>
              <a:solidFill>
                <a:srgbClr val="D9D9D9"/>
              </a:solidFill>
            </c:spPr>
          </c:dPt>
          <c:dPt>
            <c:idx val="3"/>
            <c:spPr>
              <a:solidFill>
                <a:srgbClr val="D9D9D9"/>
              </a:solidFill>
            </c:spPr>
          </c:dPt>
          <c:dPt>
            <c:idx val="4"/>
            <c:spPr>
              <a:solidFill>
                <a:srgbClr val="D9D9D9"/>
              </a:solidFill>
            </c:spPr>
          </c:dPt>
          <c:dPt>
            <c:idx val="5"/>
            <c:spPr>
              <a:solidFill>
                <a:srgbClr val="D9D9D9"/>
              </a:solidFill>
            </c:spPr>
          </c:dPt>
          <c:dPt>
            <c:idx val="6"/>
            <c:spPr>
              <a:solidFill>
                <a:srgbClr val="0B4A80"/>
              </a:solidFill>
            </c:spPr>
          </c:dPt>
          <c:cat>
            <c:strRef>
              <c:f>Sheet1!$A$2:$A$8</c:f>
              <c:strCache>
                <c:ptCount val="7"/>
                <c:pt idx="0">
                  <c:v>Monday</c:v>
                </c:pt>
                <c:pt idx="1">
                  <c:v>Tuesday</c:v>
                </c:pt>
                <c:pt idx="2">
                  <c:v>Wednesday</c:v>
                </c:pt>
                <c:pt idx="3">
                  <c:v>Thursday</c:v>
                </c:pt>
                <c:pt idx="4">
                  <c:v>Friday</c:v>
                </c:pt>
                <c:pt idx="5">
                  <c:v>Saturday</c:v>
                </c:pt>
                <c:pt idx="6">
                  <c:v>Sunday</c:v>
                </c:pt>
              </c:strCache>
            </c:strRef>
          </c:cat>
          <c:val>
            <c:numRef>
              <c:f>Sheet1!$B$2:$B$8</c:f>
              <c:numCache>
                <c:formatCode>General</c:formatCode>
                <c:ptCount val="7"/>
                <c:pt idx="0">
                  <c:v>19.21</c:v>
                </c:pt>
                <c:pt idx="1">
                  <c:v>16.19</c:v>
                </c:pt>
                <c:pt idx="2">
                  <c:v>16.06</c:v>
                </c:pt>
                <c:pt idx="3">
                  <c:v>16.24</c:v>
                </c:pt>
                <c:pt idx="4">
                  <c:v>16.39</c:v>
                </c:pt>
                <c:pt idx="5">
                  <c:v>16.19</c:v>
                </c:pt>
                <c:pt idx="6">
                  <c:v>16.93</c:v>
                </c:pt>
              </c:numCache>
            </c:numRef>
          </c:val>
        </c:ser>
        <c:dLbls>
          <c:numFmt formatCode="&quot;$&quot;0.00" sourceLinked="0"/>
          <c:txPr>
            <a:bodyPr/>
            <a:lstStyle/>
            <a:p>
              <a:pPr>
                <a:defRPr sz="1100">
                  <a:solidFill>
                    <a:srgbClr val="333333"/>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a:solidFill>
                  <a:srgbClr val="888888"/>
                </a:solidFill>
              </a:defRPr>
            </a:pPr>
          </a:p>
        </c:txPr>
        <c:crossAx val="-2113994440"/>
        <c:crosses val="autoZero"/>
        <c:auto val="1"/>
        <c:lblAlgn val="ctr"/>
        <c:lblOffset val="100"/>
        <c:noMultiLvlLbl val="0"/>
      </c:catAx>
      <c:valAx>
        <c:axId val="-2113994440"/>
        <c:scaling>
          <c:max val="22.0"/>
          <c:min val="0.0"/>
        </c:scaling>
        <c:delete val="0"/>
        <c:axPos val="l"/>
        <c:majorGridlines>
          <c:spPr>
            <a:ln>
              <a:solidFill>
                <a:srgbClr val="E6E6E6"/>
              </a:solidFill>
            </a:ln>
          </c:spPr>
        </c:majorGridlines>
        <c:numFmt formatCode="&quot;$&quot;0" sourceLinked="0"/>
        <c:majorTickMark val="out"/>
        <c:minorTickMark val="none"/>
        <c:tickLblPos val="nextTo"/>
        <c:spPr>
          <a:ln>
            <a:noFill/>
          </a:ln>
        </c:spPr>
        <c:txPr>
          <a:bodyPr/>
          <a:lstStyle/>
          <a:p>
            <a:pPr>
              <a:defRPr>
                <a:solidFill>
                  <a:srgbClr val="888888"/>
                </a:solidFill>
              </a:defRPr>
            </a:pPr>
          </a:p>
        </c:txPr>
        <c:crossAx val="-2068027336"/>
        <c:crosses val="autoZero"/>
      </c:valAx>
    </c:plotArea>
    <c:dispBlanksAs val="gap"/>
  </c:chart>
  <c:txPr>
    <a:bodyPr/>
    <a:lstStyle/>
    <a:p>
      <a:pPr>
        <a:defRPr sz="1100">
          <a:solidFill>
            <a:srgbClr val="333333"/>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Tip per mile (card)</c:v>
                </c:pt>
              </c:strCache>
            </c:strRef>
          </c:tx>
          <c:dPt>
            <c:idx val="0"/>
            <c:spPr>
              <a:solidFill>
                <a:srgbClr val="E46C2C"/>
              </a:solidFill>
            </c:spPr>
          </c:dPt>
          <c:dPt>
            <c:idx val="1"/>
            <c:spPr>
              <a:solidFill>
                <a:srgbClr val="0B4A80"/>
              </a:solidFill>
            </c:spPr>
          </c:dPt>
          <c:dPt>
            <c:idx val="2"/>
            <c:spPr>
              <a:solidFill>
                <a:srgbClr val="B0B0B0"/>
              </a:solidFill>
            </c:spPr>
          </c:dPt>
          <c:cat>
            <c:strRef>
              <c:f>Sheet1!$A$2:$A$4</c:f>
              <c:strCache>
                <c:ptCount val="3"/>
                <c:pt idx="0">
                  <c:v>Medium Car</c:v>
                </c:pt>
                <c:pt idx="1">
                  <c:v>Private</c:v>
                </c:pt>
                <c:pt idx="2">
                  <c:v>Unknown</c:v>
                </c:pt>
              </c:strCache>
            </c:strRef>
          </c:cat>
          <c:val>
            <c:numRef>
              <c:f>Sheet1!$B$2:$B$4</c:f>
              <c:numCache>
                <c:formatCode>General</c:formatCode>
                <c:ptCount val="3"/>
                <c:pt idx="0">
                  <c:v>0.924</c:v>
                </c:pt>
                <c:pt idx="1">
                  <c:v>0.943</c:v>
                </c:pt>
                <c:pt idx="2">
                  <c:v>1.002</c:v>
                </c:pt>
              </c:numCache>
            </c:numRef>
          </c:val>
        </c:ser>
        <c:dLbls>
          <c:numFmt formatCode="&quot;$&quot;0.000" sourceLinked="0"/>
          <c:txPr>
            <a:bodyPr/>
            <a:lstStyle/>
            <a:p>
              <a:pPr>
                <a:defRPr sz="1000">
                  <a:solidFill>
                    <a:srgbClr val="333333"/>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9D9"/>
            </a:solidFill>
          </a:ln>
        </c:spPr>
        <c:txPr>
          <a:bodyPr/>
          <a:lstStyle/>
          <a:p>
            <a:pPr>
              <a:defRPr>
                <a:solidFill>
                  <a:srgbClr val="888888"/>
                </a:solidFill>
              </a:defRPr>
            </a:pPr>
          </a:p>
        </c:txPr>
        <c:crossAx val="-2113994440"/>
        <c:crosses val="autoZero"/>
        <c:auto val="1"/>
        <c:lblAlgn val="ctr"/>
        <c:lblOffset val="100"/>
        <c:noMultiLvlLbl val="0"/>
      </c:catAx>
      <c:valAx>
        <c:axId val="-2113994440"/>
        <c:scaling>
          <c:max val="1.3"/>
          <c:min val="0.0"/>
        </c:scaling>
        <c:delete/>
        <c:axPos val="b"/>
        <c:majorTickMark val="out"/>
        <c:minorTickMark val="none"/>
        <c:tickLblPos val="nextTo"/>
        <c:spPr>
          <a:ln>
            <a:noFill/>
          </a:ln>
        </c:spPr>
        <c:txPr>
          <a:bodyPr/>
          <a:lstStyle/>
          <a:p>
            <a:pPr>
              <a:defRPr>
                <a:solidFill>
                  <a:srgbClr val="888888"/>
                </a:solidFill>
              </a:defRPr>
            </a:pPr>
          </a:p>
        </c:txPr>
        <c:crossAx val="-2068027336"/>
        <c:crosses val="autoZero"/>
      </c:valAx>
    </c:plotArea>
    <c:dispBlanksAs val="gap"/>
  </c:chart>
  <c:txPr>
    <a:bodyPr/>
    <a:lstStyle/>
    <a:p>
      <a:pPr>
        <a:defRPr sz="1100">
          <a:solidFill>
            <a:srgbClr val="333333"/>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All records</c:v>
                </c:pt>
              </c:strCache>
            </c:strRef>
          </c:tx>
          <c:spPr>
            <a:ln w="28575">
              <a:solidFill>
                <a:srgbClr val="0B4A80"/>
              </a:solidFill>
            </a:ln>
          </c:spPr>
          <c:marker>
            <c:size val="5"/>
            <c:spPr>
              <a:solidFill>
                <a:srgbClr val="0B4A80"/>
              </a:solidFill>
              <a:ln>
                <a:solidFill>
                  <a:srgbClr val="0B4A80"/>
                </a:solidFill>
              </a:ln>
            </c:spPr>
          </c:marker>
          <c:dLbls>
            <c:dLbl>
              <c:idx val="4"/>
              <c:spPr/>
              <c:txPr>
                <a:bodyPr/>
                <a:lstStyle/>
                <a:p>
                  <a:pPr>
                    <a:defRPr sz="1100" b="1">
                      <a:solidFill>
                        <a:srgbClr val="0B4A80"/>
                      </a:solidFill>
                    </a:defRPr>
                  </a:pPr>
                </a:p>
              </c:txPr>
              <c:dLblPos val="r"/>
              <c:showLegendKey val="0"/>
              <c:showVal val="1"/>
              <c:showCatName val="0"/>
              <c:showSerName val="0"/>
              <c:showPercent val="0"/>
              <c:showBubbleSize val="0"/>
            </c:dLbl>
            <c:dLbl>
              <c:idx val="20"/>
              <c:spPr/>
              <c:txPr>
                <a:bodyPr/>
                <a:lstStyle/>
                <a:p>
                  <a:pPr>
                    <a:defRPr sz="1100" b="1">
                      <a:solidFill>
                        <a:srgbClr val="0B4A80"/>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1.241</c:v>
                </c:pt>
                <c:pt idx="1">
                  <c:v>1.348</c:v>
                </c:pt>
                <c:pt idx="2">
                  <c:v>1.349</c:v>
                </c:pt>
                <c:pt idx="3">
                  <c:v>1.51</c:v>
                </c:pt>
                <c:pt idx="4">
                  <c:v>-1.794</c:v>
                </c:pt>
                <c:pt idx="5">
                  <c:v>1.448</c:v>
                </c:pt>
                <c:pt idx="6">
                  <c:v>1.195</c:v>
                </c:pt>
                <c:pt idx="7">
                  <c:v>1.171</c:v>
                </c:pt>
                <c:pt idx="8">
                  <c:v>1.191</c:v>
                </c:pt>
                <c:pt idx="9">
                  <c:v>1.174</c:v>
                </c:pt>
                <c:pt idx="10">
                  <c:v>1.108</c:v>
                </c:pt>
                <c:pt idx="11">
                  <c:v>1.073</c:v>
                </c:pt>
                <c:pt idx="12">
                  <c:v>1.057</c:v>
                </c:pt>
                <c:pt idx="13">
                  <c:v>0.998</c:v>
                </c:pt>
                <c:pt idx="14">
                  <c:v>1.005</c:v>
                </c:pt>
                <c:pt idx="15">
                  <c:v>1.042</c:v>
                </c:pt>
                <c:pt idx="16">
                  <c:v>1.101</c:v>
                </c:pt>
                <c:pt idx="17">
                  <c:v>1.162</c:v>
                </c:pt>
                <c:pt idx="18">
                  <c:v>1.212</c:v>
                </c:pt>
                <c:pt idx="19">
                  <c:v>1.271</c:v>
                </c:pt>
                <c:pt idx="20">
                  <c:v>2.227</c:v>
                </c:pt>
                <c:pt idx="21">
                  <c:v>1.234</c:v>
                </c:pt>
                <c:pt idx="22">
                  <c:v>1.285</c:v>
                </c:pt>
                <c:pt idx="23">
                  <c:v>1.24</c:v>
                </c:pt>
              </c:numCache>
            </c:numRef>
          </c:val>
          <c:smooth val="0"/>
        </c:ser>
        <c:ser>
          <c:idx val="1"/>
          <c:order val="1"/>
          <c:tx>
            <c:strRef>
              <c:f>Sheet1!$C$1</c:f>
              <c:strCache>
                <c:ptCount val="1"/>
                <c:pt idx="0">
                  <c:v>Extremes excluded</c:v>
                </c:pt>
              </c:strCache>
            </c:strRef>
          </c:tx>
          <c:spPr>
            <a:ln w="25400">
              <a:solidFill>
                <a:srgbClr val="B0B0B0"/>
              </a:solidFill>
            </a:ln>
          </c:spPr>
          <c:marker>
            <c:size val="5"/>
            <c:spPr>
              <a:solidFill>
                <a:srgbClr val="B0B0B0"/>
              </a:solidFill>
              <a:ln>
                <a:solidFill>
                  <a:srgbClr val="B0B0B0"/>
                </a:solidFill>
              </a:ln>
            </c:spPr>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1.448</c:v>
                </c:pt>
                <c:pt idx="1">
                  <c:v>1.542</c:v>
                </c:pt>
                <c:pt idx="2">
                  <c:v>1.584</c:v>
                </c:pt>
                <c:pt idx="3">
                  <c:v>1.66</c:v>
                </c:pt>
                <c:pt idx="4">
                  <c:v>1.722</c:v>
                </c:pt>
                <c:pt idx="5">
                  <c:v>1.554</c:v>
                </c:pt>
                <c:pt idx="6">
                  <c:v>1.433</c:v>
                </c:pt>
                <c:pt idx="7">
                  <c:v>1.351</c:v>
                </c:pt>
                <c:pt idx="8">
                  <c:v>1.298</c:v>
                </c:pt>
                <c:pt idx="9">
                  <c:v>1.289</c:v>
                </c:pt>
                <c:pt idx="10">
                  <c:v>1.289</c:v>
                </c:pt>
                <c:pt idx="11">
                  <c:v>1.27</c:v>
                </c:pt>
                <c:pt idx="12">
                  <c:v>1.266</c:v>
                </c:pt>
                <c:pt idx="13">
                  <c:v>1.245</c:v>
                </c:pt>
                <c:pt idx="14">
                  <c:v>1.221</c:v>
                </c:pt>
                <c:pt idx="15">
                  <c:v>1.203</c:v>
                </c:pt>
                <c:pt idx="16">
                  <c:v>1.253</c:v>
                </c:pt>
                <c:pt idx="17">
                  <c:v>1.322</c:v>
                </c:pt>
                <c:pt idx="18">
                  <c:v>1.399</c:v>
                </c:pt>
                <c:pt idx="19">
                  <c:v>1.426</c:v>
                </c:pt>
                <c:pt idx="20">
                  <c:v>1.438</c:v>
                </c:pt>
                <c:pt idx="21">
                  <c:v>1.444</c:v>
                </c:pt>
                <c:pt idx="22">
                  <c:v>1.453</c:v>
                </c:pt>
                <c:pt idx="23">
                  <c:v>1.409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9D9"/>
            </a:solidFill>
          </a:ln>
        </c:spPr>
        <c:txPr>
          <a:bodyPr/>
          <a:lstStyle/>
          <a:p>
            <a:pPr>
              <a:defRPr>
                <a:solidFill>
                  <a:srgbClr val="888888"/>
                </a:solidFill>
              </a:defRPr>
            </a:pPr>
          </a:p>
        </c:txPr>
        <c:crossAx val="2140495176"/>
        <c:crosses val="autoZero"/>
        <c:auto val="1"/>
        <c:lblAlgn val="ctr"/>
        <c:lblOffset val="100"/>
        <c:noMultiLvlLbl val="0"/>
      </c:catAx>
      <c:valAx>
        <c:axId val="2140495176"/>
        <c:scaling>
          <c:max val="2.5"/>
          <c:min val="-2.0"/>
        </c:scaling>
        <c:delete val="0"/>
        <c:axPos val="l"/>
        <c:majorGridlines>
          <c:spPr>
            <a:ln>
              <a:solidFill>
                <a:srgbClr val="E6E6E6"/>
              </a:solidFill>
            </a:ln>
          </c:spPr>
        </c:majorGridlines>
        <c:numFmt formatCode="&quot;$&quot;0.0" sourceLinked="0"/>
        <c:majorTickMark val="out"/>
        <c:minorTickMark val="none"/>
        <c:tickLblPos val="nextTo"/>
        <c:spPr>
          <a:ln>
            <a:noFill/>
          </a:ln>
        </c:spPr>
        <c:txPr>
          <a:bodyPr/>
          <a:lstStyle/>
          <a:p>
            <a:pPr>
              <a:defRPr>
                <a:solidFill>
                  <a:srgbClr val="888888"/>
                </a:solidFill>
              </a:defRPr>
            </a:pPr>
          </a:p>
        </c:txPr>
        <c:crossAx val="2118791784"/>
        <c:crosses val="autoZero"/>
        <c:majorUnit val="0.5"/>
      </c:valAx>
    </c:plotArea>
    <c:legend>
      <c:legendPos val="t"/>
      <c:layout/>
      <c:overlay val="0"/>
      <c:txPr>
        <a:bodyPr/>
        <a:lstStyle/>
        <a:p>
          <a:pPr>
            <a:defRPr sz="1100"/>
          </a:pPr>
        </a:p>
      </c:txPr>
    </c:legend>
    <c:plotVisOnly val="1"/>
    <c:dispBlanksAs val="gap"/>
    <c:showDLblsOverMax val="0"/>
  </c:chart>
  <c:txPr>
    <a:bodyPr/>
    <a:lstStyle/>
    <a:p>
      <a:pPr>
        <a:defRPr sz="1100">
          <a:solidFill>
            <a:srgbClr val="333333"/>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6027D2-5FE9-4A2A-88F2-9AE50ED39221}"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F832E2-F798-4651-8995-2DB91714408A}" type="slidenum">
              <a:rPr lang="en-US" smtClean="0"/>
              <a:t>‹#›</a:t>
            </a:fld>
            <a:endParaRPr lang="en-US"/>
          </a:p>
        </p:txBody>
      </p:sp>
    </p:spTree>
    <p:extLst>
      <p:ext uri="{BB962C8B-B14F-4D97-AF65-F5344CB8AC3E}">
        <p14:creationId xmlns:p14="http://schemas.microsoft.com/office/powerpoint/2010/main" val="4277025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analysis looks at yellow taxi trips in New York in May and June 2020 from two perspectives: the vendor, who needs to know when and where demand happens, and the driver, who wants to know when and where a trip pays the most. All 898,131 records are used, as required by the project brief.</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building the report I loaded the files into SQL Server and checked them. 6,608 records have impossible values; they are kept and labelled in a Data Quality Flag column, not deleted. The total matches the official TLC monthly figures, so the data is complete.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Wednesday and Thursday have 8 days in the period and the other weekdays 9, so I compare trips per day, not total trips. Big Car appears only 4 times in two months.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May and June 2020 were the start of the recovery after the lockdown. With fewer people commuting to offices, the usual morning peak is missing: 07:00–09:00 has about 720–970 trips per day on weekdays, against 1,100–1,250 in the afternoon.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average for all trips is $16.76. Brooklyn ($28.43) and the Bronx ($27.35) are close to twice the Manhattan value. Per minute the difference is much smaller, because these trips are longer. Newark has only 38 pickups ($69.25 per trip), so it is left out of the chart and the conclusions.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trip: Monday 4 May 2020, 20:00, Lincoln Square East (Manhattan), $429,562.25 for 0 miles and 0.9 minutes, payment type 3 (no charge). It is a recording error, but it is kept, as required by the project brief. Driver income here is fare plus extra plus tip; taxes, tolls and surcharges are not kept by the driver, so they are not counted.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all payment types, Unknown looked much worse. The TLC data dictionary says that tip_amount includes only card tips. Unknown has fewer card payments, so its cash tips were missing. With card payments only, the difference disappears. Big Car has 4 trips with 0 miles, so it cannot be calculated.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Minutes are trip time only; waiting time between trips is not in the data. Without the extreme values, 04:00 is the best hour ($1.722 per minute) and 15:00 the worst ($1.203); the grey line shows that view.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Vendor recommendations come from questions 1, 2 and 5; driver recommendations from questions 3, 5 and 6.</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limits come from the data itself. A full year of data would show whether the patterns hold outside the recovery period.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view was not required by the project brief. I added it on my own initiative to see how much the impossible values affect the answers. One label per record: the first rule that applies.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page in Power BI shows the same table, the key indicators side by side and the income charts for both views. Two answers change, and each change comes from a single record.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735F-CEEF-A179-0570-E7AB7680F6D0}"/>
              </a:ext>
            </a:extLst>
          </p:cNvPr>
          <p:cNvSpPr>
            <a:spLocks noGrp="1"/>
          </p:cNvSpPr>
          <p:nvPr>
            <p:ph type="ctrTitle"/>
          </p:nvPr>
        </p:nvSpPr>
        <p:spPr>
          <a:xfrm>
            <a:off x="1524000" y="1122363"/>
            <a:ext cx="9144000" cy="2387600"/>
          </a:xfrm>
        </p:spPr>
        <p:txBody>
          <a:bodyPr anchor="b"/>
          <a:lstStyle>
            <a:lvl1pPr algn="ctr">
              <a:defRPr sz="2800"/>
            </a:lvl1pPr>
          </a:lstStyle>
          <a:p>
            <a:r>
              <a:rPr lang="en-US"/>
              <a:t>Click to edit Master title style</a:t>
            </a:r>
          </a:p>
        </p:txBody>
      </p:sp>
      <p:sp>
        <p:nvSpPr>
          <p:cNvPr id="3" name="Subtitle 2">
            <a:extLst>
              <a:ext uri="{FF2B5EF4-FFF2-40B4-BE49-F238E27FC236}">
                <a16:creationId xmlns:a16="http://schemas.microsoft.com/office/drawing/2014/main" id="{F19B85A2-D73C-9340-12CC-432CDBAF02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C2D06E-E62C-E6E8-2E92-98BFF59376AC}"/>
              </a:ext>
            </a:extLst>
          </p:cNvPr>
          <p:cNvSpPr>
            <a:spLocks noGrp="1"/>
          </p:cNvSpPr>
          <p:nvPr>
            <p:ph type="dt" sz="half" idx="10"/>
          </p:nvPr>
        </p:nvSpPr>
        <p:spPr/>
        <p:txBody>
          <a:bodyPr/>
          <a:lstStyle/>
          <a:p>
            <a:fld id="{C5EDF224-21C9-4E17-A502-1B98C0261FC3}" type="datetime1">
              <a:rPr lang="en-US" smtClean="0"/>
              <a:t>10/13/2026</a:t>
            </a:fld>
            <a:endParaRPr lang="en-US"/>
          </a:p>
        </p:txBody>
      </p:sp>
      <p:sp>
        <p:nvSpPr>
          <p:cNvPr id="5" name="Footer Placeholder 4">
            <a:extLst>
              <a:ext uri="{FF2B5EF4-FFF2-40B4-BE49-F238E27FC236}">
                <a16:creationId xmlns:a16="http://schemas.microsoft.com/office/drawing/2014/main" id="{DF6FFE4F-D875-7BA9-CF52-48CEDF6D91CD}"/>
              </a:ext>
            </a:extLst>
          </p:cNvPr>
          <p:cNvSpPr>
            <a:spLocks noGrp="1"/>
          </p:cNvSpPr>
          <p:nvPr>
            <p:ph type="ftr" sz="quarter" idx="11"/>
          </p:nvPr>
        </p:nvSpPr>
        <p:spPr/>
        <p:txBody>
          <a:bodyPr/>
          <a:lstStyle/>
          <a:p>
            <a:r>
              <a:rPr lang="en-US"/>
              <a:t>NYC Yellow Taxi · May–June 2020 · Source: NYC TLC trip records</a:t>
            </a:r>
          </a:p>
        </p:txBody>
      </p:sp>
      <p:sp>
        <p:nvSpPr>
          <p:cNvPr id="6" name="Slide Number Placeholder 5">
            <a:extLst>
              <a:ext uri="{FF2B5EF4-FFF2-40B4-BE49-F238E27FC236}">
                <a16:creationId xmlns:a16="http://schemas.microsoft.com/office/drawing/2014/main" id="{7B58127D-0D1E-6483-E1A5-0382355CEB9F}"/>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1174879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8E6C2-49E8-7730-26E0-A3AF60A5052D}"/>
              </a:ext>
            </a:extLst>
          </p:cNvPr>
          <p:cNvSpPr>
            <a:spLocks noGrp="1"/>
          </p:cNvSpPr>
          <p:nvPr>
            <p:ph type="title"/>
          </p:nvPr>
        </p:nvSpPr>
        <p:spPr>
          <a:xfrm>
            <a:off x="457200" y="283464"/>
            <a:ext cx="11265408" cy="79552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807B5831-0697-4CE7-C664-2E6D06B7602E}"/>
              </a:ext>
            </a:extLst>
          </p:cNvPr>
          <p:cNvSpPr>
            <a:spLocks noGrp="1"/>
          </p:cNvSpPr>
          <p:nvPr>
            <p:ph type="ftr" sz="quarter" idx="11"/>
          </p:nvPr>
        </p:nvSpPr>
        <p:spPr>
          <a:xfrm>
            <a:off x="457200" y="6336792"/>
            <a:ext cx="7196328" cy="274320"/>
          </a:xfrm>
        </p:spPr>
        <p:txBody>
          <a:bodyPr/>
          <a:lstStyle/>
          <a:p>
            <a:r>
              <a:rPr lang="en-US"/>
              <a:t>NYC Yellow Taxi · May–June 2020 · Source: NYC TLC trip records</a:t>
            </a:r>
          </a:p>
        </p:txBody>
      </p:sp>
      <p:sp>
        <p:nvSpPr>
          <p:cNvPr id="5" name="Slide Number Placeholder 4">
            <a:extLst>
              <a:ext uri="{FF2B5EF4-FFF2-40B4-BE49-F238E27FC236}">
                <a16:creationId xmlns:a16="http://schemas.microsoft.com/office/drawing/2014/main" id="{F74DC1DA-BE16-4AC4-36F6-495451325C3B}"/>
              </a:ext>
            </a:extLst>
          </p:cNvPr>
          <p:cNvSpPr>
            <a:spLocks noGrp="1"/>
          </p:cNvSpPr>
          <p:nvPr>
            <p:ph type="sldNum" sz="quarter" idx="12"/>
          </p:nvPr>
        </p:nvSpPr>
        <p:spPr>
          <a:xfrm>
            <a:off x="10360152" y="6336792"/>
            <a:ext cx="1371600" cy="274320"/>
          </a:xfrm>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3091818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7A764-CB01-CE7E-5D81-E5160B5F0C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E90DBF-4D8F-CB78-0BA8-4F423EB2B6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B052E7-C134-38C6-5375-F1CC6F685033}"/>
              </a:ext>
            </a:extLst>
          </p:cNvPr>
          <p:cNvSpPr>
            <a:spLocks noGrp="1"/>
          </p:cNvSpPr>
          <p:nvPr>
            <p:ph type="dt" sz="half" idx="10"/>
          </p:nvPr>
        </p:nvSpPr>
        <p:spPr/>
        <p:txBody>
          <a:bodyPr/>
          <a:lstStyle/>
          <a:p>
            <a:fld id="{C28CE969-9CBB-4E83-9412-FC58860E52EB}" type="datetime1">
              <a:rPr lang="en-US" smtClean="0"/>
              <a:t>10/13/2026</a:t>
            </a:fld>
            <a:endParaRPr lang="en-US"/>
          </a:p>
        </p:txBody>
      </p:sp>
      <p:sp>
        <p:nvSpPr>
          <p:cNvPr id="5" name="Footer Placeholder 4">
            <a:extLst>
              <a:ext uri="{FF2B5EF4-FFF2-40B4-BE49-F238E27FC236}">
                <a16:creationId xmlns:a16="http://schemas.microsoft.com/office/drawing/2014/main" id="{9AD808C5-C5C3-9098-6562-621F2201B800}"/>
              </a:ext>
            </a:extLst>
          </p:cNvPr>
          <p:cNvSpPr>
            <a:spLocks noGrp="1"/>
          </p:cNvSpPr>
          <p:nvPr>
            <p:ph type="ftr" sz="quarter" idx="11"/>
          </p:nvPr>
        </p:nvSpPr>
        <p:spPr/>
        <p:txBody>
          <a:bodyPr/>
          <a:lstStyle/>
          <a:p>
            <a:r>
              <a:rPr lang="en-US"/>
              <a:t>NYC Yellow Taxi · May–June 2020 · Source: NYC TLC trip records</a:t>
            </a:r>
          </a:p>
        </p:txBody>
      </p:sp>
      <p:sp>
        <p:nvSpPr>
          <p:cNvPr id="6" name="Slide Number Placeholder 5">
            <a:extLst>
              <a:ext uri="{FF2B5EF4-FFF2-40B4-BE49-F238E27FC236}">
                <a16:creationId xmlns:a16="http://schemas.microsoft.com/office/drawing/2014/main" id="{4C2FB0B0-10EE-C8DD-1541-5F2A562BCD78}"/>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998790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9228-9221-0EA4-D334-8B65CE4F07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849B7B-DCCB-EFA7-F286-53E958A9D0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6CC215-3B64-78EE-671B-84BC82832A5B}"/>
              </a:ext>
            </a:extLst>
          </p:cNvPr>
          <p:cNvSpPr>
            <a:spLocks noGrp="1"/>
          </p:cNvSpPr>
          <p:nvPr>
            <p:ph type="dt" sz="half" idx="10"/>
          </p:nvPr>
        </p:nvSpPr>
        <p:spPr/>
        <p:txBody>
          <a:bodyPr/>
          <a:lstStyle/>
          <a:p>
            <a:fld id="{92748FDB-8302-453F-B9DC-C69B1325FEB8}" type="datetime1">
              <a:rPr lang="en-US" smtClean="0"/>
              <a:t>10/13/2026</a:t>
            </a:fld>
            <a:endParaRPr lang="en-US"/>
          </a:p>
        </p:txBody>
      </p:sp>
      <p:sp>
        <p:nvSpPr>
          <p:cNvPr id="5" name="Footer Placeholder 4">
            <a:extLst>
              <a:ext uri="{FF2B5EF4-FFF2-40B4-BE49-F238E27FC236}">
                <a16:creationId xmlns:a16="http://schemas.microsoft.com/office/drawing/2014/main" id="{A1B05C84-6BEB-CC58-E26D-339BAC2360ED}"/>
              </a:ext>
            </a:extLst>
          </p:cNvPr>
          <p:cNvSpPr>
            <a:spLocks noGrp="1"/>
          </p:cNvSpPr>
          <p:nvPr>
            <p:ph type="ftr" sz="quarter" idx="11"/>
          </p:nvPr>
        </p:nvSpPr>
        <p:spPr/>
        <p:txBody>
          <a:bodyPr/>
          <a:lstStyle/>
          <a:p>
            <a:r>
              <a:rPr lang="en-US"/>
              <a:t>NYC Yellow Taxi · May–June 2020 · Source: NYC TLC trip records</a:t>
            </a:r>
          </a:p>
        </p:txBody>
      </p:sp>
      <p:sp>
        <p:nvSpPr>
          <p:cNvPr id="6" name="Slide Number Placeholder 5">
            <a:extLst>
              <a:ext uri="{FF2B5EF4-FFF2-40B4-BE49-F238E27FC236}">
                <a16:creationId xmlns:a16="http://schemas.microsoft.com/office/drawing/2014/main" id="{D20E8391-4F87-C1EB-0192-11469B9002DC}"/>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38647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AFFF-11C6-3ED5-24CC-8C3BB2A1B0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15808C-F46D-94C9-31D2-01A49278B0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90DD2A-6E7E-2543-7642-0C223DE2AB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533B70-C5D8-9123-28FE-E4DEF194F6BB}"/>
              </a:ext>
            </a:extLst>
          </p:cNvPr>
          <p:cNvSpPr>
            <a:spLocks noGrp="1"/>
          </p:cNvSpPr>
          <p:nvPr>
            <p:ph type="dt" sz="half" idx="10"/>
          </p:nvPr>
        </p:nvSpPr>
        <p:spPr/>
        <p:txBody>
          <a:bodyPr/>
          <a:lstStyle/>
          <a:p>
            <a:fld id="{033B00A4-B7F6-47C8-98E4-9564FE4F9E1C}" type="datetime1">
              <a:rPr lang="en-US" smtClean="0"/>
              <a:t>10/13/2026</a:t>
            </a:fld>
            <a:endParaRPr lang="en-US"/>
          </a:p>
        </p:txBody>
      </p:sp>
      <p:sp>
        <p:nvSpPr>
          <p:cNvPr id="6" name="Footer Placeholder 5">
            <a:extLst>
              <a:ext uri="{FF2B5EF4-FFF2-40B4-BE49-F238E27FC236}">
                <a16:creationId xmlns:a16="http://schemas.microsoft.com/office/drawing/2014/main" id="{BDFE3D4B-08B5-787E-390B-8EBCEC3ECED2}"/>
              </a:ext>
            </a:extLst>
          </p:cNvPr>
          <p:cNvSpPr>
            <a:spLocks noGrp="1"/>
          </p:cNvSpPr>
          <p:nvPr>
            <p:ph type="ftr" sz="quarter" idx="11"/>
          </p:nvPr>
        </p:nvSpPr>
        <p:spPr/>
        <p:txBody>
          <a:bodyPr/>
          <a:lstStyle/>
          <a:p>
            <a:r>
              <a:rPr lang="en-US"/>
              <a:t>NYC Yellow Taxi · May–June 2020 · Source: NYC TLC trip records</a:t>
            </a:r>
          </a:p>
        </p:txBody>
      </p:sp>
      <p:sp>
        <p:nvSpPr>
          <p:cNvPr id="7" name="Slide Number Placeholder 6">
            <a:extLst>
              <a:ext uri="{FF2B5EF4-FFF2-40B4-BE49-F238E27FC236}">
                <a16:creationId xmlns:a16="http://schemas.microsoft.com/office/drawing/2014/main" id="{51429081-2163-A34C-5200-3CDEAABCA80B}"/>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994148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E0DCD-3086-32A6-8C46-BD0CAB979A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AC82D1-6281-1C89-B03F-D983270319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4A161E-E8A9-FB0C-FF37-9F1330C8B2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8C1D8-496F-5E7E-DD6C-72F243B94D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DB15D1-5CFD-8E04-C17D-6504558682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2C1544-B876-B41F-1ACD-E98A07C56D24}"/>
              </a:ext>
            </a:extLst>
          </p:cNvPr>
          <p:cNvSpPr>
            <a:spLocks noGrp="1"/>
          </p:cNvSpPr>
          <p:nvPr>
            <p:ph type="dt" sz="half" idx="10"/>
          </p:nvPr>
        </p:nvSpPr>
        <p:spPr/>
        <p:txBody>
          <a:bodyPr/>
          <a:lstStyle/>
          <a:p>
            <a:fld id="{5F90C635-2AFD-4952-8870-3B5F0EF2FD23}" type="datetime1">
              <a:rPr lang="en-US" smtClean="0"/>
              <a:t>10/13/2026</a:t>
            </a:fld>
            <a:endParaRPr lang="en-US"/>
          </a:p>
        </p:txBody>
      </p:sp>
      <p:sp>
        <p:nvSpPr>
          <p:cNvPr id="8" name="Footer Placeholder 7">
            <a:extLst>
              <a:ext uri="{FF2B5EF4-FFF2-40B4-BE49-F238E27FC236}">
                <a16:creationId xmlns:a16="http://schemas.microsoft.com/office/drawing/2014/main" id="{71975DB4-730C-7041-7F77-F0D7219CD7A8}"/>
              </a:ext>
            </a:extLst>
          </p:cNvPr>
          <p:cNvSpPr>
            <a:spLocks noGrp="1"/>
          </p:cNvSpPr>
          <p:nvPr>
            <p:ph type="ftr" sz="quarter" idx="11"/>
          </p:nvPr>
        </p:nvSpPr>
        <p:spPr/>
        <p:txBody>
          <a:bodyPr/>
          <a:lstStyle/>
          <a:p>
            <a:r>
              <a:rPr lang="en-US"/>
              <a:t>NYC Yellow Taxi · May–June 2020 · Source: NYC TLC trip records</a:t>
            </a:r>
          </a:p>
        </p:txBody>
      </p:sp>
      <p:sp>
        <p:nvSpPr>
          <p:cNvPr id="9" name="Slide Number Placeholder 8">
            <a:extLst>
              <a:ext uri="{FF2B5EF4-FFF2-40B4-BE49-F238E27FC236}">
                <a16:creationId xmlns:a16="http://schemas.microsoft.com/office/drawing/2014/main" id="{0EAB15DC-8657-8E80-A94B-290B8FF3BF57}"/>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2343337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C02EC9-9A16-4637-618D-1F98A917925D}"/>
              </a:ext>
            </a:extLst>
          </p:cNvPr>
          <p:cNvSpPr>
            <a:spLocks noGrp="1"/>
          </p:cNvSpPr>
          <p:nvPr>
            <p:ph type="dt" sz="half" idx="10"/>
          </p:nvPr>
        </p:nvSpPr>
        <p:spPr/>
        <p:txBody>
          <a:bodyPr/>
          <a:lstStyle/>
          <a:p>
            <a:fld id="{166ECD97-60FE-4B3E-907E-42C89203ABE2}" type="datetime1">
              <a:rPr lang="en-US" smtClean="0"/>
              <a:t>10/13/2026</a:t>
            </a:fld>
            <a:endParaRPr lang="en-US"/>
          </a:p>
        </p:txBody>
      </p:sp>
      <p:sp>
        <p:nvSpPr>
          <p:cNvPr id="3" name="Footer Placeholder 2">
            <a:extLst>
              <a:ext uri="{FF2B5EF4-FFF2-40B4-BE49-F238E27FC236}">
                <a16:creationId xmlns:a16="http://schemas.microsoft.com/office/drawing/2014/main" id="{9D90860F-2893-7623-AE4C-00DBB6B1721D}"/>
              </a:ext>
            </a:extLst>
          </p:cNvPr>
          <p:cNvSpPr>
            <a:spLocks noGrp="1"/>
          </p:cNvSpPr>
          <p:nvPr>
            <p:ph type="ftr" sz="quarter" idx="11"/>
          </p:nvPr>
        </p:nvSpPr>
        <p:spPr/>
        <p:txBody>
          <a:bodyPr/>
          <a:lstStyle/>
          <a:p>
            <a:r>
              <a:rPr lang="en-US"/>
              <a:t>NYC Yellow Taxi · May–June 2020 · Source: NYC TLC trip records</a:t>
            </a:r>
          </a:p>
        </p:txBody>
      </p:sp>
      <p:sp>
        <p:nvSpPr>
          <p:cNvPr id="4" name="Slide Number Placeholder 3">
            <a:extLst>
              <a:ext uri="{FF2B5EF4-FFF2-40B4-BE49-F238E27FC236}">
                <a16:creationId xmlns:a16="http://schemas.microsoft.com/office/drawing/2014/main" id="{BDCB1B6A-D35C-BEDA-1384-B4989D048D3B}"/>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1789415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E382A-9FF1-63AB-97EB-BF4D8DE7F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A92042-24E1-98DE-E591-D262CB95C2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C34917-8F16-681C-624C-BF318F45BD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E22445-55E3-05F7-022D-D1A53AAD2EB1}"/>
              </a:ext>
            </a:extLst>
          </p:cNvPr>
          <p:cNvSpPr>
            <a:spLocks noGrp="1"/>
          </p:cNvSpPr>
          <p:nvPr>
            <p:ph type="dt" sz="half" idx="10"/>
          </p:nvPr>
        </p:nvSpPr>
        <p:spPr/>
        <p:txBody>
          <a:bodyPr/>
          <a:lstStyle/>
          <a:p>
            <a:fld id="{9F510336-87A8-4667-B42C-DAD0AAE28851}" type="datetime1">
              <a:rPr lang="en-US" smtClean="0"/>
              <a:t>10/13/2026</a:t>
            </a:fld>
            <a:endParaRPr lang="en-US"/>
          </a:p>
        </p:txBody>
      </p:sp>
      <p:sp>
        <p:nvSpPr>
          <p:cNvPr id="6" name="Footer Placeholder 5">
            <a:extLst>
              <a:ext uri="{FF2B5EF4-FFF2-40B4-BE49-F238E27FC236}">
                <a16:creationId xmlns:a16="http://schemas.microsoft.com/office/drawing/2014/main" id="{4823F87D-FCFA-2F56-0538-27E8FE40B8A9}"/>
              </a:ext>
            </a:extLst>
          </p:cNvPr>
          <p:cNvSpPr>
            <a:spLocks noGrp="1"/>
          </p:cNvSpPr>
          <p:nvPr>
            <p:ph type="ftr" sz="quarter" idx="11"/>
          </p:nvPr>
        </p:nvSpPr>
        <p:spPr/>
        <p:txBody>
          <a:bodyPr/>
          <a:lstStyle/>
          <a:p>
            <a:r>
              <a:rPr lang="en-US"/>
              <a:t>NYC Yellow Taxi · May–June 2020 · Source: NYC TLC trip records</a:t>
            </a:r>
          </a:p>
        </p:txBody>
      </p:sp>
      <p:sp>
        <p:nvSpPr>
          <p:cNvPr id="7" name="Slide Number Placeholder 6">
            <a:extLst>
              <a:ext uri="{FF2B5EF4-FFF2-40B4-BE49-F238E27FC236}">
                <a16:creationId xmlns:a16="http://schemas.microsoft.com/office/drawing/2014/main" id="{6C9C8BAD-D58A-3EC6-A6A4-958EEDBB2CC9}"/>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1262184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E92E1-F8E0-5F99-696C-D4D2FB599D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6948E-0E22-2BD3-B8C7-635D55009B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809E75-DCF8-CEE2-06C0-82D4CE03C2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927032-8F9D-9BBC-0CD6-73F890D1E3BE}"/>
              </a:ext>
            </a:extLst>
          </p:cNvPr>
          <p:cNvSpPr>
            <a:spLocks noGrp="1"/>
          </p:cNvSpPr>
          <p:nvPr>
            <p:ph type="dt" sz="half" idx="10"/>
          </p:nvPr>
        </p:nvSpPr>
        <p:spPr/>
        <p:txBody>
          <a:bodyPr/>
          <a:lstStyle/>
          <a:p>
            <a:fld id="{69E04F8C-9D8C-48BF-8E7D-5C3409D54D34}" type="datetime1">
              <a:rPr lang="en-US" smtClean="0"/>
              <a:t>10/13/2026</a:t>
            </a:fld>
            <a:endParaRPr lang="en-US"/>
          </a:p>
        </p:txBody>
      </p:sp>
      <p:sp>
        <p:nvSpPr>
          <p:cNvPr id="6" name="Footer Placeholder 5">
            <a:extLst>
              <a:ext uri="{FF2B5EF4-FFF2-40B4-BE49-F238E27FC236}">
                <a16:creationId xmlns:a16="http://schemas.microsoft.com/office/drawing/2014/main" id="{EB04EBB7-33CA-8FFD-65A3-179287911B5F}"/>
              </a:ext>
            </a:extLst>
          </p:cNvPr>
          <p:cNvSpPr>
            <a:spLocks noGrp="1"/>
          </p:cNvSpPr>
          <p:nvPr>
            <p:ph type="ftr" sz="quarter" idx="11"/>
          </p:nvPr>
        </p:nvSpPr>
        <p:spPr/>
        <p:txBody>
          <a:bodyPr/>
          <a:lstStyle/>
          <a:p>
            <a:r>
              <a:rPr lang="en-US"/>
              <a:t>NYC Yellow Taxi · May–June 2020 · Source: NYC TLC trip records</a:t>
            </a:r>
          </a:p>
        </p:txBody>
      </p:sp>
      <p:sp>
        <p:nvSpPr>
          <p:cNvPr id="7" name="Slide Number Placeholder 6">
            <a:extLst>
              <a:ext uri="{FF2B5EF4-FFF2-40B4-BE49-F238E27FC236}">
                <a16:creationId xmlns:a16="http://schemas.microsoft.com/office/drawing/2014/main" id="{F5A16BA6-4A9E-43D6-D1DD-FC9E0187551F}"/>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1499820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AE4DD-AEC6-DD55-C6BF-1670F66901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C0E035-11E2-924C-1CCA-0D34473BA8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A00959-5A45-95BC-E9CF-E966D4AD3923}"/>
              </a:ext>
            </a:extLst>
          </p:cNvPr>
          <p:cNvSpPr>
            <a:spLocks noGrp="1"/>
          </p:cNvSpPr>
          <p:nvPr>
            <p:ph type="dt" sz="half" idx="10"/>
          </p:nvPr>
        </p:nvSpPr>
        <p:spPr/>
        <p:txBody>
          <a:bodyPr/>
          <a:lstStyle/>
          <a:p>
            <a:fld id="{A9F8D6CB-FC55-4DC3-BFF7-4174DDA1CD99}" type="datetime1">
              <a:rPr lang="en-US" smtClean="0"/>
              <a:t>10/13/2026</a:t>
            </a:fld>
            <a:endParaRPr lang="en-US"/>
          </a:p>
        </p:txBody>
      </p:sp>
      <p:sp>
        <p:nvSpPr>
          <p:cNvPr id="5" name="Footer Placeholder 4">
            <a:extLst>
              <a:ext uri="{FF2B5EF4-FFF2-40B4-BE49-F238E27FC236}">
                <a16:creationId xmlns:a16="http://schemas.microsoft.com/office/drawing/2014/main" id="{2EB8CF5C-9A5E-1606-7899-C3655A255022}"/>
              </a:ext>
            </a:extLst>
          </p:cNvPr>
          <p:cNvSpPr>
            <a:spLocks noGrp="1"/>
          </p:cNvSpPr>
          <p:nvPr>
            <p:ph type="ftr" sz="quarter" idx="11"/>
          </p:nvPr>
        </p:nvSpPr>
        <p:spPr/>
        <p:txBody>
          <a:bodyPr/>
          <a:lstStyle/>
          <a:p>
            <a:r>
              <a:rPr lang="en-US"/>
              <a:t>NYC Yellow Taxi · May–June 2020 · Source: NYC TLC trip records</a:t>
            </a:r>
          </a:p>
        </p:txBody>
      </p:sp>
      <p:sp>
        <p:nvSpPr>
          <p:cNvPr id="6" name="Slide Number Placeholder 5">
            <a:extLst>
              <a:ext uri="{FF2B5EF4-FFF2-40B4-BE49-F238E27FC236}">
                <a16:creationId xmlns:a16="http://schemas.microsoft.com/office/drawing/2014/main" id="{7D8064C2-2FBE-2D17-BCFE-88DFFDA4C63C}"/>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1612261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7BF80B-B9AA-0727-A2F9-EF7646B647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9D4306-CCB2-E9AB-95DB-E9E34516E6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263022-1069-5FB4-8AD8-5D3BF583535F}"/>
              </a:ext>
            </a:extLst>
          </p:cNvPr>
          <p:cNvSpPr>
            <a:spLocks noGrp="1"/>
          </p:cNvSpPr>
          <p:nvPr>
            <p:ph type="dt" sz="half" idx="10"/>
          </p:nvPr>
        </p:nvSpPr>
        <p:spPr/>
        <p:txBody>
          <a:bodyPr/>
          <a:lstStyle/>
          <a:p>
            <a:fld id="{088EC8DC-B0BC-4CC4-AD29-03C9BB5A1A78}" type="datetime1">
              <a:rPr lang="en-US" smtClean="0"/>
              <a:t>10/13/2026</a:t>
            </a:fld>
            <a:endParaRPr lang="en-US"/>
          </a:p>
        </p:txBody>
      </p:sp>
      <p:sp>
        <p:nvSpPr>
          <p:cNvPr id="5" name="Footer Placeholder 4">
            <a:extLst>
              <a:ext uri="{FF2B5EF4-FFF2-40B4-BE49-F238E27FC236}">
                <a16:creationId xmlns:a16="http://schemas.microsoft.com/office/drawing/2014/main" id="{0CE42802-F3DC-28DA-8C28-192537C67B4A}"/>
              </a:ext>
            </a:extLst>
          </p:cNvPr>
          <p:cNvSpPr>
            <a:spLocks noGrp="1"/>
          </p:cNvSpPr>
          <p:nvPr>
            <p:ph type="ftr" sz="quarter" idx="11"/>
          </p:nvPr>
        </p:nvSpPr>
        <p:spPr/>
        <p:txBody>
          <a:bodyPr/>
          <a:lstStyle/>
          <a:p>
            <a:r>
              <a:rPr lang="en-US"/>
              <a:t>NYC Yellow Taxi · May–June 2020 · Source: NYC TLC trip records</a:t>
            </a:r>
          </a:p>
        </p:txBody>
      </p:sp>
      <p:sp>
        <p:nvSpPr>
          <p:cNvPr id="6" name="Slide Number Placeholder 5">
            <a:extLst>
              <a:ext uri="{FF2B5EF4-FFF2-40B4-BE49-F238E27FC236}">
                <a16:creationId xmlns:a16="http://schemas.microsoft.com/office/drawing/2014/main" id="{C3990723-B88A-F1C6-EA45-25612A43D654}"/>
              </a:ext>
            </a:extLst>
          </p:cNvPr>
          <p:cNvSpPr>
            <a:spLocks noGrp="1"/>
          </p:cNvSpPr>
          <p:nvPr>
            <p:ph type="sldNum" sz="quarter" idx="12"/>
          </p:nvPr>
        </p:nvSpPr>
        <p:spPr/>
        <p:txBody>
          <a:bodyPr/>
          <a:lstStyle/>
          <a:p>
            <a:fld id="{A7C81886-1D64-4BE5-B20B-6B36F6AC275F}" type="slidenum">
              <a:rPr lang="en-US" smtClean="0"/>
              <a:t>‹#›</a:t>
            </a:fld>
            <a:endParaRPr lang="en-US"/>
          </a:p>
        </p:txBody>
      </p:sp>
    </p:spTree>
    <p:extLst>
      <p:ext uri="{BB962C8B-B14F-4D97-AF65-F5344CB8AC3E}">
        <p14:creationId xmlns:p14="http://schemas.microsoft.com/office/powerpoint/2010/main" val="273310168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CF0D4A-4B02-7474-E57A-9799BD36D7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4154FB-E44C-B62C-16E4-D4AAC87B01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C72773-BBE9-20DB-0DF9-0AFEBFB2C9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244E7E-0442-40EC-A0E1-8E05450C65E5}" type="datetime1">
              <a:rPr lang="en-US" smtClean="0"/>
              <a:t>10/13/2026</a:t>
            </a:fld>
            <a:endParaRPr lang="en-US"/>
          </a:p>
        </p:txBody>
      </p:sp>
      <p:sp>
        <p:nvSpPr>
          <p:cNvPr id="5" name="Footer Placeholder 4">
            <a:extLst>
              <a:ext uri="{FF2B5EF4-FFF2-40B4-BE49-F238E27FC236}">
                <a16:creationId xmlns:a16="http://schemas.microsoft.com/office/drawing/2014/main" id="{62D9C2DD-6EE1-4B76-6229-BB78856FE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NYC Yellow Taxi · May–June 2020 · Source: NYC TLC trip records</a:t>
            </a:r>
          </a:p>
        </p:txBody>
      </p:sp>
      <p:sp>
        <p:nvSpPr>
          <p:cNvPr id="6" name="Slide Number Placeholder 5">
            <a:extLst>
              <a:ext uri="{FF2B5EF4-FFF2-40B4-BE49-F238E27FC236}">
                <a16:creationId xmlns:a16="http://schemas.microsoft.com/office/drawing/2014/main" id="{E88726DC-C468-20BF-6AC7-1E95E67966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C81886-1D64-4BE5-B20B-6B36F6AC275F}" type="slidenum">
              <a:rPr lang="en-US" smtClean="0"/>
              <a:t>‹#›</a:t>
            </a:fld>
            <a:endParaRPr lang="en-US"/>
          </a:p>
        </p:txBody>
      </p:sp>
    </p:spTree>
    <p:extLst>
      <p:ext uri="{BB962C8B-B14F-4D97-AF65-F5344CB8AC3E}">
        <p14:creationId xmlns:p14="http://schemas.microsoft.com/office/powerpoint/2010/main" val="394198077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103120"/>
            <a:ext cx="5852160" cy="1463040"/>
          </a:xfrm>
        </p:spPr>
        <p:txBody>
          <a:bodyPr>
            <a:normAutofit fontScale="90000"/>
          </a:bodyPr>
          <a:lstStyle/>
          <a:p>
            <a:pPr algn="l"/>
            <a:r>
              <a:rPr sz="4000" dirty="0">
                <a:solidFill>
                  <a:srgbClr val="333333"/>
                </a:solidFill>
              </a:rPr>
              <a:t>NYC Yellow Taxi: when, where and how drivers earn</a:t>
            </a:r>
          </a:p>
        </p:txBody>
      </p:sp>
      <p:sp>
        <p:nvSpPr>
          <p:cNvPr id="3" name="Subtitle 2"/>
          <p:cNvSpPr>
            <a:spLocks noGrp="1"/>
          </p:cNvSpPr>
          <p:nvPr>
            <p:ph type="subTitle" idx="1"/>
          </p:nvPr>
        </p:nvSpPr>
        <p:spPr>
          <a:xfrm>
            <a:off x="457200" y="3749039"/>
            <a:ext cx="5852160" cy="914400"/>
          </a:xfrm>
        </p:spPr>
        <p:txBody>
          <a:bodyPr/>
          <a:lstStyle/>
          <a:p>
            <a:pPr algn="l"/>
            <a:r>
              <a:rPr sz="2000" b="0">
                <a:solidFill>
                  <a:srgbClr val="888888"/>
                </a:solidFill>
                <a:latin typeface="Segoe UI"/>
              </a:rPr>
              <a:t>Power BI analysis of 898,131 trips</a:t>
            </a:r>
          </a:p>
          <a:p>
            <a:pPr algn="l"/>
            <a:r>
              <a:rPr sz="2000" b="0">
                <a:solidFill>
                  <a:srgbClr val="888888"/>
                </a:solidFill>
                <a:latin typeface="Segoe UI"/>
              </a:rPr>
              <a:t>May–June 2020 · Angel Iana</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l="31211"/>
          <a:stretch>
            <a:fillRect/>
          </a:stretch>
        </p:blipFill>
        <p:spPr>
          <a:xfrm>
            <a:off x="6400800" y="1463040"/>
            <a:ext cx="5330952" cy="43256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dirty="0">
                <a:solidFill>
                  <a:srgbClr val="333333"/>
                </a:solidFill>
              </a:rPr>
              <a:t>The data: 898,131 trips, checked in SQL and matched to TLC counts</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2</a:t>
            </a:fld>
            <a:endParaRPr lang="en-US"/>
          </a:p>
        </p:txBody>
      </p:sp>
      <p:sp>
        <p:nvSpPr>
          <p:cNvPr id="5" name="Rectangle 4"/>
          <p:cNvSpPr/>
          <p:nvPr/>
        </p:nvSpPr>
        <p:spPr>
          <a:xfrm>
            <a:off x="457200" y="1801368"/>
            <a:ext cx="3063240" cy="1261872"/>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333333"/>
                </a:solidFill>
                <a:latin typeface="Segoe UI"/>
              </a:rPr>
              <a:t>898,131 trips</a:t>
            </a:r>
          </a:p>
          <a:p>
            <a:r>
              <a:rPr sz="1400" b="0">
                <a:solidFill>
                  <a:srgbClr val="333333"/>
                </a:solidFill>
                <a:latin typeface="Segoe UI"/>
              </a:rPr>
              <a:t>TLC trip records, 2 monthly files</a:t>
            </a:r>
          </a:p>
        </p:txBody>
      </p:sp>
      <p:sp>
        <p:nvSpPr>
          <p:cNvPr id="6" name="Rectangle 5"/>
          <p:cNvSpPr/>
          <p:nvPr/>
        </p:nvSpPr>
        <p:spPr>
          <a:xfrm>
            <a:off x="4389120" y="1801368"/>
            <a:ext cx="3063240" cy="1261872"/>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333333"/>
                </a:solidFill>
                <a:latin typeface="Segoe UI"/>
              </a:rPr>
              <a:t>SQL Server checks</a:t>
            </a:r>
          </a:p>
          <a:p>
            <a:r>
              <a:rPr sz="1400" b="0">
                <a:solidFill>
                  <a:srgbClr val="333333"/>
                </a:solidFill>
                <a:latin typeface="Segoe UI"/>
              </a:rPr>
              <a:t>6,608 trips with impossible values flagged, not deleted</a:t>
            </a:r>
          </a:p>
        </p:txBody>
      </p:sp>
      <p:sp>
        <p:nvSpPr>
          <p:cNvPr id="7" name="Rectangle 6"/>
          <p:cNvSpPr/>
          <p:nvPr/>
        </p:nvSpPr>
        <p:spPr>
          <a:xfrm>
            <a:off x="8311896" y="1801368"/>
            <a:ext cx="3063240" cy="1261872"/>
          </a:xfrm>
          <a:prstGeom prst="rect">
            <a:avLst/>
          </a:prstGeom>
          <a:solidFill>
            <a:srgbClr val="0B4A80"/>
          </a:solidFill>
          <a:ln>
            <a:solidFill>
              <a:srgbClr val="0B4A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Segoe UI"/>
              </a:rPr>
              <a:t>Power BI report</a:t>
            </a:r>
          </a:p>
          <a:p>
            <a:r>
              <a:rPr sz="1400" b="0">
                <a:solidFill>
                  <a:srgbClr val="FFFFFF"/>
                </a:solidFill>
                <a:latin typeface="Segoe UI"/>
              </a:rPr>
              <a:t>898,131 trips · all records</a:t>
            </a:r>
          </a:p>
        </p:txBody>
      </p:sp>
      <p:sp>
        <p:nvSpPr>
          <p:cNvPr id="8" name="Right Arrow 7"/>
          <p:cNvSpPr/>
          <p:nvPr/>
        </p:nvSpPr>
        <p:spPr>
          <a:xfrm>
            <a:off x="3639312" y="2249424"/>
            <a:ext cx="548640" cy="365760"/>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7589520" y="2249424"/>
            <a:ext cx="548640" cy="365760"/>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57200" y="3602736"/>
          <a:ext cx="7315200" cy="10972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endParaRPr/>
                    </a:p>
                  </a:txBody>
                  <a:tcPr>
                    <a:solidFill>
                      <a:srgbClr val="0B4A80"/>
                    </a:solidFill>
                  </a:tcPr>
                </a:tc>
                <a:tc>
                  <a:txBody>
                    <a:bodyPr/>
                    <a:lstStyle/>
                    <a:p>
                      <a:r>
                        <a:rPr sz="1400" b="1">
                          <a:solidFill>
                            <a:srgbClr val="FFFFFF"/>
                          </a:solidFill>
                          <a:latin typeface="Segoe UI"/>
                        </a:rPr>
                        <a:t>Our data</a:t>
                      </a:r>
                    </a:p>
                  </a:txBody>
                  <a:tcPr>
                    <a:solidFill>
                      <a:srgbClr val="0B4A80"/>
                    </a:solidFill>
                  </a:tcPr>
                </a:tc>
                <a:tc>
                  <a:txBody>
                    <a:bodyPr/>
                    <a:lstStyle/>
                    <a:p>
                      <a:r>
                        <a:rPr sz="1400" b="1">
                          <a:solidFill>
                            <a:srgbClr val="FFFFFF"/>
                          </a:solidFill>
                          <a:latin typeface="Segoe UI"/>
                        </a:rPr>
                        <a:t>TLC official</a:t>
                      </a:r>
                    </a:p>
                  </a:txBody>
                  <a:tcPr>
                    <a:solidFill>
                      <a:srgbClr val="0B4A80"/>
                    </a:solidFill>
                  </a:tcPr>
                </a:tc>
                <a:extLst>
                  <a:ext uri="{0D108BD9-81ED-4DB2-BD59-A6C34878D82A}">
                    <a16:rowId xmlns:a16="http://schemas.microsoft.com/office/drawing/2014/main" val="10000"/>
                  </a:ext>
                </a:extLst>
              </a:tr>
              <a:tr h="365760">
                <a:tc>
                  <a:txBody>
                    <a:bodyPr/>
                    <a:lstStyle/>
                    <a:p>
                      <a:r>
                        <a:rPr sz="1400" b="0">
                          <a:solidFill>
                            <a:srgbClr val="333333"/>
                          </a:solidFill>
                          <a:latin typeface="Segoe UI"/>
                        </a:rPr>
                        <a:t>Trips, May–June 2020</a:t>
                      </a:r>
                    </a:p>
                  </a:txBody>
                  <a:tcPr>
                    <a:solidFill>
                      <a:srgbClr val="EEF2F7"/>
                    </a:solidFill>
                  </a:tcPr>
                </a:tc>
                <a:tc>
                  <a:txBody>
                    <a:bodyPr/>
                    <a:lstStyle/>
                    <a:p>
                      <a:r>
                        <a:rPr sz="1400" b="0">
                          <a:solidFill>
                            <a:srgbClr val="333333"/>
                          </a:solidFill>
                          <a:latin typeface="Segoe UI"/>
                        </a:rPr>
                        <a:t>898,131</a:t>
                      </a:r>
                    </a:p>
                  </a:txBody>
                  <a:tcPr>
                    <a:solidFill>
                      <a:srgbClr val="EEF2F7"/>
                    </a:solidFill>
                  </a:tcPr>
                </a:tc>
                <a:tc>
                  <a:txBody>
                    <a:bodyPr/>
                    <a:lstStyle/>
                    <a:p>
                      <a:r>
                        <a:rPr sz="1400" b="0">
                          <a:solidFill>
                            <a:srgbClr val="333333"/>
                          </a:solidFill>
                          <a:latin typeface="Segoe UI"/>
                        </a:rPr>
                        <a:t>898,127</a:t>
                      </a:r>
                    </a:p>
                  </a:txBody>
                  <a:tcPr>
                    <a:solidFill>
                      <a:srgbClr val="EEF2F7"/>
                    </a:solidFill>
                  </a:tcPr>
                </a:tc>
                <a:extLst>
                  <a:ext uri="{0D108BD9-81ED-4DB2-BD59-A6C34878D82A}">
                    <a16:rowId xmlns:a16="http://schemas.microsoft.com/office/drawing/2014/main" val="10001"/>
                  </a:ext>
                </a:extLst>
              </a:tr>
              <a:tr h="365760">
                <a:tc>
                  <a:txBody>
                    <a:bodyPr/>
                    <a:lstStyle/>
                    <a:p>
                      <a:r>
                        <a:rPr sz="1400" b="0">
                          <a:solidFill>
                            <a:srgbClr val="333333"/>
                          </a:solidFill>
                          <a:latin typeface="Segoe UI"/>
                        </a:rPr>
                        <a:t>Trips per day</a:t>
                      </a:r>
                    </a:p>
                  </a:txBody>
                  <a:tcPr>
                    <a:solidFill>
                      <a:srgbClr val="FFFFFF"/>
                    </a:solidFill>
                  </a:tcPr>
                </a:tc>
                <a:tc>
                  <a:txBody>
                    <a:bodyPr/>
                    <a:lstStyle/>
                    <a:p>
                      <a:r>
                        <a:rPr sz="1400" b="0">
                          <a:solidFill>
                            <a:srgbClr val="333333"/>
                          </a:solidFill>
                          <a:latin typeface="Segoe UI"/>
                        </a:rPr>
                        <a:t>14,723.5</a:t>
                      </a:r>
                    </a:p>
                  </a:txBody>
                  <a:tcPr>
                    <a:solidFill>
                      <a:srgbClr val="FFFFFF"/>
                    </a:solidFill>
                  </a:tcPr>
                </a:tc>
                <a:tc>
                  <a:txBody>
                    <a:bodyPr/>
                    <a:lstStyle/>
                    <a:p>
                      <a:r>
                        <a:rPr sz="1400" b="0">
                          <a:solidFill>
                            <a:srgbClr val="333333"/>
                          </a:solidFill>
                          <a:latin typeface="Segoe UI"/>
                        </a:rPr>
                        <a:t>14,723.4</a:t>
                      </a:r>
                    </a:p>
                  </a:txBody>
                  <a:tcPr>
                    <a:solidFill>
                      <a:srgbClr val="FFFFFF"/>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5120640"/>
            <a:ext cx="11265408" cy="768096"/>
          </a:xfrm>
          <a:prstGeom prst="rect">
            <a:avLst/>
          </a:prstGeom>
          <a:noFill/>
        </p:spPr>
        <p:txBody>
          <a:bodyPr wrap="square">
            <a:spAutoFit/>
          </a:bodyPr>
          <a:lstStyle/>
          <a:p>
            <a:r>
              <a:rPr sz="1400" b="0">
                <a:solidFill>
                  <a:srgbClr val="333333"/>
                </a:solidFill>
                <a:latin typeface="Segoe UI"/>
              </a:rPr>
              <a:t>All records are kept, as required by the project brief. TLC figures: 11,237 trips per day in May and 18,326 in June. Every number in this deck comes from a SQL query and matches the Power BI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800" dirty="0">
                <a:solidFill>
                  <a:srgbClr val="333333"/>
                </a:solidFill>
              </a:rPr>
              <a:t>Private cars are about 82% of trips every day; Friday and Tuesday are the busiest</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3</a:t>
            </a:fld>
            <a:endParaRPr lang="en-US"/>
          </a:p>
        </p:txBody>
      </p:sp>
      <p:sp>
        <p:nvSpPr>
          <p:cNvPr id="6" name="TextBox 5"/>
          <p:cNvSpPr txBox="1"/>
          <p:nvPr/>
        </p:nvSpPr>
        <p:spPr>
          <a:xfrm>
            <a:off x="8385048" y="1298448"/>
            <a:ext cx="3346704" cy="914400"/>
          </a:xfrm>
          <a:prstGeom prst="rect">
            <a:avLst/>
          </a:prstGeom>
          <a:noFill/>
        </p:spPr>
        <p:txBody>
          <a:bodyPr wrap="square">
            <a:spAutoFit/>
          </a:bodyPr>
          <a:lstStyle/>
          <a:p>
            <a:r>
              <a:rPr sz="3200" b="1">
                <a:solidFill>
                  <a:srgbClr val="0B4A80"/>
                </a:solidFill>
                <a:latin typeface="Segoe UI"/>
              </a:rPr>
              <a:t>80.8–82.7%</a:t>
            </a:r>
          </a:p>
          <a:p>
            <a:r>
              <a:rPr sz="1200" b="0">
                <a:solidFill>
                  <a:srgbClr val="888888"/>
                </a:solidFill>
                <a:latin typeface="Segoe UI"/>
              </a:rPr>
              <a:t>Private, on every weekday</a:t>
            </a:r>
          </a:p>
        </p:txBody>
      </p:sp>
      <p:sp>
        <p:nvSpPr>
          <p:cNvPr id="7" name="TextBox 6"/>
          <p:cNvSpPr txBox="1"/>
          <p:nvPr/>
        </p:nvSpPr>
        <p:spPr>
          <a:xfrm>
            <a:off x="8385048" y="2395728"/>
            <a:ext cx="3346704" cy="914400"/>
          </a:xfrm>
          <a:prstGeom prst="rect">
            <a:avLst/>
          </a:prstGeom>
          <a:noFill/>
        </p:spPr>
        <p:txBody>
          <a:bodyPr wrap="square">
            <a:spAutoFit/>
          </a:bodyPr>
          <a:lstStyle/>
          <a:p>
            <a:r>
              <a:rPr sz="3200" b="1">
                <a:solidFill>
                  <a:srgbClr val="0B4A80"/>
                </a:solidFill>
                <a:latin typeface="Segoe UI"/>
              </a:rPr>
              <a:t>17,100</a:t>
            </a:r>
          </a:p>
          <a:p>
            <a:r>
              <a:rPr sz="1200" b="0">
                <a:solidFill>
                  <a:srgbClr val="888888"/>
                </a:solidFill>
                <a:latin typeface="Segoe UI"/>
              </a:rPr>
              <a:t>trips per day on Friday, the busiest</a:t>
            </a:r>
          </a:p>
        </p:txBody>
      </p:sp>
      <p:sp>
        <p:nvSpPr>
          <p:cNvPr id="8" name="TextBox 7"/>
          <p:cNvSpPr txBox="1"/>
          <p:nvPr/>
        </p:nvSpPr>
        <p:spPr>
          <a:xfrm>
            <a:off x="8385048" y="3493008"/>
            <a:ext cx="3346704" cy="914400"/>
          </a:xfrm>
          <a:prstGeom prst="rect">
            <a:avLst/>
          </a:prstGeom>
          <a:noFill/>
        </p:spPr>
        <p:txBody>
          <a:bodyPr wrap="square">
            <a:spAutoFit/>
          </a:bodyPr>
          <a:lstStyle/>
          <a:p>
            <a:r>
              <a:rPr sz="3200" b="1">
                <a:solidFill>
                  <a:srgbClr val="0B4A80"/>
                </a:solidFill>
                <a:latin typeface="Segoe UI"/>
              </a:rPr>
              <a:t>9,672</a:t>
            </a:r>
          </a:p>
          <a:p>
            <a:r>
              <a:rPr sz="1200" b="0">
                <a:solidFill>
                  <a:srgbClr val="888888"/>
                </a:solidFill>
                <a:latin typeface="Segoe UI"/>
              </a:rPr>
              <a:t>trips per day on Sunday, the quietest</a:t>
            </a:r>
          </a:p>
        </p:txBody>
      </p:sp>
      <p:sp>
        <p:nvSpPr>
          <p:cNvPr id="9" name="TextBox 8"/>
          <p:cNvSpPr txBox="1"/>
          <p:nvPr/>
        </p:nvSpPr>
        <p:spPr>
          <a:xfrm>
            <a:off x="8385048" y="4846320"/>
            <a:ext cx="3346704" cy="1188720"/>
          </a:xfrm>
          <a:prstGeom prst="rect">
            <a:avLst/>
          </a:prstGeom>
          <a:noFill/>
        </p:spPr>
        <p:txBody>
          <a:bodyPr wrap="square">
            <a:spAutoFit/>
          </a:bodyPr>
          <a:lstStyle/>
          <a:p>
            <a:r>
              <a:rPr sz="1400" b="0">
                <a:solidFill>
                  <a:srgbClr val="333333"/>
                </a:solidFill>
                <a:latin typeface="Segoe UI"/>
              </a:rPr>
              <a:t>The vehicle mix does not depend on the day; only the volume does.</a:t>
            </a:r>
          </a:p>
        </p:txBody>
      </p:sp>
      <p:pic>
        <p:nvPicPr>
          <p:cNvPr id="10" name="Picture 4" descr="A_v1.png"/>
          <p:cNvPicPr>
            <a:picLocks noChangeAspect="1"/>
          </p:cNvPicPr>
          <p:nvPr/>
        </p:nvPicPr>
        <p:blipFill>
          <a:blip r:embed="rId4"/>
          <a:stretch>
            <a:fillRect/>
          </a:stretch>
        </p:blipFill>
        <p:spPr>
          <a:xfrm>
            <a:off x="457200" y="1298448"/>
            <a:ext cx="7562088" cy="28926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solidFill>
                  <a:srgbClr val="333333"/>
                </a:solidFill>
              </a:rPr>
              <a:t>Demand peaks 13:00–17:00 on weekdays, with no morning rush</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4</a:t>
            </a:fld>
            <a:endParaRPr lang="en-US"/>
          </a:p>
        </p:txBody>
      </p:sp>
      <p:sp>
        <p:nvSpPr>
          <p:cNvPr id="7" name="TextBox 6"/>
          <p:cNvSpPr txBox="1"/>
          <p:nvPr/>
        </p:nvSpPr>
        <p:spPr>
          <a:xfrm>
            <a:off x="8385048" y="1298448"/>
            <a:ext cx="3346704" cy="914400"/>
          </a:xfrm>
          <a:prstGeom prst="rect">
            <a:avLst/>
          </a:prstGeom>
          <a:noFill/>
        </p:spPr>
        <p:txBody>
          <a:bodyPr wrap="square">
            <a:spAutoFit/>
          </a:bodyPr>
          <a:lstStyle/>
          <a:p>
            <a:r>
              <a:rPr sz="3200" b="1">
                <a:solidFill>
                  <a:srgbClr val="0B4A80"/>
                </a:solidFill>
                <a:latin typeface="Segoe UI"/>
              </a:rPr>
              <a:t>35.4%</a:t>
            </a:r>
          </a:p>
          <a:p>
            <a:r>
              <a:rPr sz="1200" b="0">
                <a:solidFill>
                  <a:srgbClr val="888888"/>
                </a:solidFill>
                <a:latin typeface="Segoe UI"/>
              </a:rPr>
              <a:t>of trips start between 13:00 and 17:00</a:t>
            </a:r>
          </a:p>
        </p:txBody>
      </p:sp>
      <p:sp>
        <p:nvSpPr>
          <p:cNvPr id="8" name="TextBox 7"/>
          <p:cNvSpPr txBox="1"/>
          <p:nvPr/>
        </p:nvSpPr>
        <p:spPr>
          <a:xfrm>
            <a:off x="8385048" y="2395728"/>
            <a:ext cx="3346704" cy="914400"/>
          </a:xfrm>
          <a:prstGeom prst="rect">
            <a:avLst/>
          </a:prstGeom>
          <a:noFill/>
        </p:spPr>
        <p:txBody>
          <a:bodyPr wrap="square">
            <a:spAutoFit/>
          </a:bodyPr>
          <a:lstStyle/>
          <a:p>
            <a:r>
              <a:rPr sz="3200" b="1">
                <a:solidFill>
                  <a:srgbClr val="0B4A80"/>
                </a:solidFill>
                <a:latin typeface="Segoe UI"/>
              </a:rPr>
              <a:t>1,085</a:t>
            </a:r>
          </a:p>
          <a:p>
            <a:r>
              <a:rPr sz="1200" b="0">
                <a:solidFill>
                  <a:srgbClr val="888888"/>
                </a:solidFill>
                <a:latin typeface="Segoe UI"/>
              </a:rPr>
              <a:t>trips per day at 15:00, the peak hour</a:t>
            </a:r>
          </a:p>
        </p:txBody>
      </p:sp>
      <p:sp>
        <p:nvSpPr>
          <p:cNvPr id="9" name="TextBox 8"/>
          <p:cNvSpPr txBox="1"/>
          <p:nvPr/>
        </p:nvSpPr>
        <p:spPr>
          <a:xfrm>
            <a:off x="8385048" y="3493008"/>
            <a:ext cx="3346704" cy="914400"/>
          </a:xfrm>
          <a:prstGeom prst="rect">
            <a:avLst/>
          </a:prstGeom>
          <a:noFill/>
        </p:spPr>
        <p:txBody>
          <a:bodyPr wrap="square">
            <a:spAutoFit/>
          </a:bodyPr>
          <a:lstStyle/>
          <a:p>
            <a:r>
              <a:rPr sz="3200" b="1">
                <a:solidFill>
                  <a:srgbClr val="0B4A80"/>
                </a:solidFill>
                <a:latin typeface="Segoe UI"/>
              </a:rPr>
              <a:t>1,249</a:t>
            </a:r>
          </a:p>
          <a:p>
            <a:r>
              <a:rPr sz="1200" b="0">
                <a:solidFill>
                  <a:srgbClr val="888888"/>
                </a:solidFill>
                <a:latin typeface="Segoe UI"/>
              </a:rPr>
              <a:t>trips per day on Friday at 17:00, the busiest hour of the week</a:t>
            </a:r>
          </a:p>
        </p:txBody>
      </p:sp>
      <p:sp>
        <p:nvSpPr>
          <p:cNvPr id="10" name="TextBox 9"/>
          <p:cNvSpPr txBox="1"/>
          <p:nvPr/>
        </p:nvSpPr>
        <p:spPr>
          <a:xfrm>
            <a:off x="8385048" y="4846320"/>
            <a:ext cx="3346704" cy="1188720"/>
          </a:xfrm>
          <a:prstGeom prst="rect">
            <a:avLst/>
          </a:prstGeom>
          <a:noFill/>
        </p:spPr>
        <p:txBody>
          <a:bodyPr wrap="square">
            <a:spAutoFit/>
          </a:bodyPr>
          <a:lstStyle/>
          <a:p>
            <a:r>
              <a:rPr sz="1400" b="0">
                <a:solidFill>
                  <a:srgbClr val="333333"/>
                </a:solidFill>
                <a:latin typeface="Segoe UI"/>
              </a:rPr>
              <a:t>Most cars are needed on weekday afternoons, not at the usual commute times.</a:t>
            </a:r>
          </a:p>
        </p:txBody>
      </p:sp>
      <p:pic>
        <p:nvPicPr>
          <p:cNvPr id="11" name="Picture 4" descr="A_v2.png"/>
          <p:cNvPicPr>
            <a:picLocks noChangeAspect="1"/>
          </p:cNvPicPr>
          <p:nvPr/>
        </p:nvPicPr>
        <p:blipFill>
          <a:blip r:embed="rId5"/>
          <a:stretch>
            <a:fillRect/>
          </a:stretch>
        </p:blipFill>
        <p:spPr>
          <a:xfrm>
            <a:off x="457200" y="1298448"/>
            <a:ext cx="4572000" cy="1726213"/>
          </a:xfrm>
          <a:prstGeom prst="rect">
            <a:avLst/>
          </a:prstGeom>
        </p:spPr>
      </p:pic>
      <p:pic>
        <p:nvPicPr>
          <p:cNvPr id="12" name="Picture 5" descr="A_v3.png"/>
          <p:cNvPicPr>
            <a:picLocks noChangeAspect="1"/>
          </p:cNvPicPr>
          <p:nvPr/>
        </p:nvPicPr>
        <p:blipFill>
          <a:blip r:embed="rId6"/>
          <a:stretch>
            <a:fillRect/>
          </a:stretch>
        </p:blipFill>
        <p:spPr>
          <a:xfrm>
            <a:off x="457200" y="3657600"/>
            <a:ext cx="7562088" cy="14353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800" dirty="0">
                <a:solidFill>
                  <a:srgbClr val="333333"/>
                </a:solidFill>
              </a:rPr>
              <a:t>Manhattan has 86% of pickups, but trips that start outside it pay about twice as much</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5</a:t>
            </a:fld>
            <a:endParaRPr lang="en-US"/>
          </a:p>
        </p:txBody>
      </p:sp>
      <p:sp>
        <p:nvSpPr>
          <p:cNvPr id="5" name="TextBox 4"/>
          <p:cNvSpPr txBox="1"/>
          <p:nvPr/>
        </p:nvSpPr>
        <p:spPr>
          <a:xfrm>
            <a:off x="457200" y="1298448"/>
            <a:ext cx="3712463" cy="274320"/>
          </a:xfrm>
          <a:prstGeom prst="rect">
            <a:avLst/>
          </a:prstGeom>
          <a:noFill/>
        </p:spPr>
        <p:txBody>
          <a:bodyPr wrap="square">
            <a:spAutoFit/>
          </a:bodyPr>
          <a:lstStyle/>
          <a:p>
            <a:r>
              <a:rPr sz="1200" b="1">
                <a:solidFill>
                  <a:srgbClr val="888888"/>
                </a:solidFill>
                <a:latin typeface="Segoe UI"/>
              </a:rPr>
              <a:t>Pickups</a:t>
            </a:r>
          </a:p>
        </p:txBody>
      </p:sp>
      <p:sp>
        <p:nvSpPr>
          <p:cNvPr id="6" name="TextBox 5"/>
          <p:cNvSpPr txBox="1"/>
          <p:nvPr/>
        </p:nvSpPr>
        <p:spPr>
          <a:xfrm>
            <a:off x="4288536" y="1298448"/>
            <a:ext cx="3712463" cy="274320"/>
          </a:xfrm>
          <a:prstGeom prst="rect">
            <a:avLst/>
          </a:prstGeom>
          <a:noFill/>
        </p:spPr>
        <p:txBody>
          <a:bodyPr wrap="square">
            <a:spAutoFit/>
          </a:bodyPr>
          <a:lstStyle/>
          <a:p>
            <a:r>
              <a:rPr sz="1200" b="1">
                <a:solidFill>
                  <a:srgbClr val="888888"/>
                </a:solidFill>
                <a:latin typeface="Segoe UI"/>
              </a:rPr>
              <a:t>Avg driver income per trip, by borough</a:t>
            </a:r>
          </a:p>
        </p:txBody>
      </p:sp>
      <p:sp>
        <p:nvSpPr>
          <p:cNvPr id="9" name="TextBox 8"/>
          <p:cNvSpPr txBox="1"/>
          <p:nvPr/>
        </p:nvSpPr>
        <p:spPr>
          <a:xfrm>
            <a:off x="8385048" y="1298448"/>
            <a:ext cx="3346704" cy="914400"/>
          </a:xfrm>
          <a:prstGeom prst="rect">
            <a:avLst/>
          </a:prstGeom>
          <a:noFill/>
        </p:spPr>
        <p:txBody>
          <a:bodyPr wrap="square">
            <a:spAutoFit/>
          </a:bodyPr>
          <a:lstStyle/>
          <a:p>
            <a:r>
              <a:rPr sz="3200" b="1">
                <a:solidFill>
                  <a:srgbClr val="0B4A80"/>
                </a:solidFill>
                <a:latin typeface="Segoe UI"/>
              </a:rPr>
              <a:t>86.33%</a:t>
            </a:r>
          </a:p>
          <a:p>
            <a:r>
              <a:rPr sz="1200" b="0">
                <a:solidFill>
                  <a:srgbClr val="888888"/>
                </a:solidFill>
                <a:latin typeface="Segoe UI"/>
              </a:rPr>
              <a:t>of pickups are in Manhattan</a:t>
            </a:r>
          </a:p>
        </p:txBody>
      </p:sp>
      <p:sp>
        <p:nvSpPr>
          <p:cNvPr id="10" name="TextBox 9"/>
          <p:cNvSpPr txBox="1"/>
          <p:nvPr/>
        </p:nvSpPr>
        <p:spPr>
          <a:xfrm>
            <a:off x="8385048" y="2395728"/>
            <a:ext cx="3346704" cy="914400"/>
          </a:xfrm>
          <a:prstGeom prst="rect">
            <a:avLst/>
          </a:prstGeom>
          <a:noFill/>
        </p:spPr>
        <p:txBody>
          <a:bodyPr wrap="square">
            <a:spAutoFit/>
          </a:bodyPr>
          <a:lstStyle/>
          <a:p>
            <a:r>
              <a:rPr sz="3200" b="1">
                <a:solidFill>
                  <a:srgbClr val="0B4A80"/>
                </a:solidFill>
                <a:latin typeface="Segoe UI"/>
              </a:rPr>
              <a:t>$33.44</a:t>
            </a:r>
          </a:p>
          <a:p>
            <a:r>
              <a:rPr sz="1200" b="0">
                <a:solidFill>
                  <a:srgbClr val="888888"/>
                </a:solidFill>
                <a:latin typeface="Segoe UI"/>
              </a:rPr>
              <a:t>per trip from Queens, vs $14.62 from Manhattan</a:t>
            </a:r>
          </a:p>
        </p:txBody>
      </p:sp>
      <p:sp>
        <p:nvSpPr>
          <p:cNvPr id="11" name="TextBox 10"/>
          <p:cNvSpPr txBox="1"/>
          <p:nvPr/>
        </p:nvSpPr>
        <p:spPr>
          <a:xfrm>
            <a:off x="8385048" y="3493008"/>
            <a:ext cx="3346704" cy="914400"/>
          </a:xfrm>
          <a:prstGeom prst="rect">
            <a:avLst/>
          </a:prstGeom>
          <a:noFill/>
        </p:spPr>
        <p:txBody>
          <a:bodyPr wrap="square">
            <a:spAutoFit/>
          </a:bodyPr>
          <a:lstStyle/>
          <a:p>
            <a:r>
              <a:rPr sz="3200" b="1" dirty="0">
                <a:solidFill>
                  <a:srgbClr val="0B4A80"/>
                </a:solidFill>
                <a:latin typeface="Segoe UI"/>
              </a:rPr>
              <a:t>$48.15</a:t>
            </a:r>
          </a:p>
          <a:p>
            <a:r>
              <a:rPr sz="1200" b="0" dirty="0">
                <a:solidFill>
                  <a:srgbClr val="888888"/>
                </a:solidFill>
                <a:latin typeface="Segoe UI"/>
              </a:rPr>
              <a:t>per JFK pickup; airports are only 2.71% of pickups</a:t>
            </a:r>
          </a:p>
        </p:txBody>
      </p:sp>
      <p:sp>
        <p:nvSpPr>
          <p:cNvPr id="12" name="TextBox 11"/>
          <p:cNvSpPr txBox="1"/>
          <p:nvPr/>
        </p:nvSpPr>
        <p:spPr>
          <a:xfrm>
            <a:off x="8385048" y="4846320"/>
            <a:ext cx="3346704" cy="1188720"/>
          </a:xfrm>
          <a:prstGeom prst="rect">
            <a:avLst/>
          </a:prstGeom>
          <a:noFill/>
        </p:spPr>
        <p:txBody>
          <a:bodyPr wrap="square">
            <a:spAutoFit/>
          </a:bodyPr>
          <a:lstStyle/>
          <a:p>
            <a:r>
              <a:rPr sz="1400" b="0">
                <a:solidFill>
                  <a:srgbClr val="333333"/>
                </a:solidFill>
                <a:latin typeface="Segoe UI"/>
              </a:rPr>
              <a:t>Manhattan brings the volume; airports and outer boroughs bring the value per trip.</a:t>
            </a:r>
          </a:p>
        </p:txBody>
      </p:sp>
      <p:pic>
        <p:nvPicPr>
          <p:cNvPr id="13" name="Picture 6" descr="A_z1.png"/>
          <p:cNvPicPr>
            <a:picLocks noChangeAspect="1"/>
          </p:cNvPicPr>
          <p:nvPr/>
        </p:nvPicPr>
        <p:blipFill>
          <a:blip r:embed="rId5"/>
          <a:stretch>
            <a:fillRect/>
          </a:stretch>
        </p:blipFill>
        <p:spPr>
          <a:xfrm>
            <a:off x="457200" y="1645920"/>
            <a:ext cx="3643865" cy="3032366"/>
          </a:xfrm>
          <a:prstGeom prst="rect">
            <a:avLst/>
          </a:prstGeom>
        </p:spPr>
      </p:pic>
      <p:graphicFrame>
        <p:nvGraphicFramePr>
          <p:cNvPr id="14" name="Chart 13"/>
          <p:cNvGraphicFramePr>
            <a:graphicFrameLocks noGrp="1"/>
          </p:cNvGraphicFramePr>
          <p:nvPr/>
        </p:nvGraphicFramePr>
        <p:xfrm>
          <a:off x="4288536" y="1645920"/>
          <a:ext cx="3712464" cy="3015327"/>
        </p:xfrm>
        <a:graphic>
          <a:graphicData uri="http://schemas.openxmlformats.org/drawingml/2006/chart">
            <c:chart xmlns:c="http://schemas.openxmlformats.org/drawingml/2006/chart" r:id="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800" dirty="0">
                <a:solidFill>
                  <a:srgbClr val="333333"/>
                </a:solidFill>
              </a:rPr>
              <a:t>Monday leads income per trip, but only because of one $429,562 trip</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6</a:t>
            </a:fld>
            <a:endParaRPr lang="en-US"/>
          </a:p>
        </p:txBody>
      </p:sp>
      <p:sp>
        <p:nvSpPr>
          <p:cNvPr id="6" name="TextBox 5"/>
          <p:cNvSpPr txBox="1"/>
          <p:nvPr/>
        </p:nvSpPr>
        <p:spPr>
          <a:xfrm>
            <a:off x="8385048" y="1298448"/>
            <a:ext cx="3346704" cy="914400"/>
          </a:xfrm>
          <a:prstGeom prst="rect">
            <a:avLst/>
          </a:prstGeom>
          <a:noFill/>
        </p:spPr>
        <p:txBody>
          <a:bodyPr wrap="square">
            <a:spAutoFit/>
          </a:bodyPr>
          <a:lstStyle/>
          <a:p>
            <a:r>
              <a:rPr sz="3200" b="1">
                <a:solidFill>
                  <a:srgbClr val="0B4A80"/>
                </a:solidFill>
                <a:latin typeface="Segoe UI"/>
              </a:rPr>
              <a:t>$19.21</a:t>
            </a:r>
          </a:p>
          <a:p>
            <a:r>
              <a:rPr sz="1200" b="0">
                <a:solidFill>
                  <a:srgbClr val="888888"/>
                </a:solidFill>
                <a:latin typeface="Segoe UI"/>
              </a:rPr>
              <a:t>average driver income per trip on Monday</a:t>
            </a:r>
          </a:p>
        </p:txBody>
      </p:sp>
      <p:sp>
        <p:nvSpPr>
          <p:cNvPr id="7" name="TextBox 6"/>
          <p:cNvSpPr txBox="1"/>
          <p:nvPr/>
        </p:nvSpPr>
        <p:spPr>
          <a:xfrm>
            <a:off x="8385048" y="2395728"/>
            <a:ext cx="3346704" cy="914400"/>
          </a:xfrm>
          <a:prstGeom prst="rect">
            <a:avLst/>
          </a:prstGeom>
          <a:noFill/>
        </p:spPr>
        <p:txBody>
          <a:bodyPr wrap="square">
            <a:spAutoFit/>
          </a:bodyPr>
          <a:lstStyle/>
          <a:p>
            <a:r>
              <a:rPr sz="3200" b="1">
                <a:solidFill>
                  <a:srgbClr val="0B4A80"/>
                </a:solidFill>
                <a:latin typeface="Segoe UI"/>
              </a:rPr>
              <a:t>$16.15</a:t>
            </a:r>
          </a:p>
          <a:p>
            <a:r>
              <a:rPr sz="1200" b="0">
                <a:solidFill>
                  <a:srgbClr val="888888"/>
                </a:solidFill>
                <a:latin typeface="Segoe UI"/>
              </a:rPr>
              <a:t>on Monday without that single trip</a:t>
            </a:r>
          </a:p>
        </p:txBody>
      </p:sp>
      <p:sp>
        <p:nvSpPr>
          <p:cNvPr id="8" name="TextBox 7"/>
          <p:cNvSpPr txBox="1"/>
          <p:nvPr/>
        </p:nvSpPr>
        <p:spPr>
          <a:xfrm>
            <a:off x="8385048" y="3493008"/>
            <a:ext cx="3346704" cy="914400"/>
          </a:xfrm>
          <a:prstGeom prst="rect">
            <a:avLst/>
          </a:prstGeom>
          <a:noFill/>
        </p:spPr>
        <p:txBody>
          <a:bodyPr wrap="square">
            <a:spAutoFit/>
          </a:bodyPr>
          <a:lstStyle/>
          <a:p>
            <a:r>
              <a:rPr sz="3200" b="1">
                <a:solidFill>
                  <a:srgbClr val="0B4A80"/>
                </a:solidFill>
                <a:latin typeface="Segoe UI"/>
              </a:rPr>
              <a:t>$16.93</a:t>
            </a:r>
          </a:p>
          <a:p>
            <a:r>
              <a:rPr sz="1200" b="0">
                <a:solidFill>
                  <a:srgbClr val="888888"/>
                </a:solidFill>
                <a:latin typeface="Segoe UI"/>
              </a:rPr>
              <a:t>on Sunday, the second day</a:t>
            </a:r>
          </a:p>
        </p:txBody>
      </p:sp>
      <p:sp>
        <p:nvSpPr>
          <p:cNvPr id="9" name="TextBox 8"/>
          <p:cNvSpPr txBox="1"/>
          <p:nvPr/>
        </p:nvSpPr>
        <p:spPr>
          <a:xfrm>
            <a:off x="8385048" y="4846320"/>
            <a:ext cx="3346704" cy="1188720"/>
          </a:xfrm>
          <a:prstGeom prst="rect">
            <a:avLst/>
          </a:prstGeom>
          <a:noFill/>
        </p:spPr>
        <p:txBody>
          <a:bodyPr wrap="square">
            <a:spAutoFit/>
          </a:bodyPr>
          <a:lstStyle/>
          <a:p>
            <a:r>
              <a:rPr sz="1400" b="0">
                <a:solidFill>
                  <a:srgbClr val="333333"/>
                </a:solidFill>
                <a:latin typeface="Segoe UI"/>
              </a:rPr>
              <a:t>Without that one record, Sunday and Friday lead, and the gap between days is small.</a:t>
            </a:r>
          </a:p>
        </p:txBody>
      </p:sp>
      <p:graphicFrame>
        <p:nvGraphicFramePr>
          <p:cNvPr id="10" name="Chart 9"/>
          <p:cNvGraphicFramePr>
            <a:graphicFrameLocks noGrp="1"/>
          </p:cNvGraphicFramePr>
          <p:nvPr/>
        </p:nvGraphicFramePr>
        <p:xfrm>
          <a:off x="457200" y="1298448"/>
          <a:ext cx="7562088" cy="3369843"/>
        </p:xfrm>
        <a:graphic>
          <a:graphicData uri="http://schemas.openxmlformats.org/drawingml/2006/chart">
            <c:chart xmlns:c="http://schemas.openxmlformats.org/drawingml/2006/chart"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800" dirty="0">
                <a:solidFill>
                  <a:srgbClr val="333333"/>
                </a:solidFill>
              </a:rPr>
              <a:t>Tips per mile are about the same for every vehicle type once only card tips are counted</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7</a:t>
            </a:fld>
            <a:endParaRPr lang="en-US"/>
          </a:p>
        </p:txBody>
      </p:sp>
      <p:graphicFrame>
        <p:nvGraphicFramePr>
          <p:cNvPr id="5" name="Table 4"/>
          <p:cNvGraphicFramePr>
            <a:graphicFrameLocks noGrp="1"/>
          </p:cNvGraphicFramePr>
          <p:nvPr/>
        </p:nvGraphicFramePr>
        <p:xfrm>
          <a:off x="457200" y="1298448"/>
          <a:ext cx="4315968" cy="14630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572768">
                  <a:extLst>
                    <a:ext uri="{9D8B030D-6E8A-4147-A177-3AD203B41FA5}">
                      <a16:colId xmlns:a16="http://schemas.microsoft.com/office/drawing/2014/main" val="20002"/>
                    </a:ext>
                  </a:extLst>
                </a:gridCol>
              </a:tblGrid>
              <a:tr h="365760">
                <a:tc>
                  <a:txBody>
                    <a:bodyPr/>
                    <a:lstStyle/>
                    <a:p>
                      <a:r>
                        <a:rPr sz="1400" b="1">
                          <a:solidFill>
                            <a:srgbClr val="FFFFFF"/>
                          </a:solidFill>
                          <a:latin typeface="Segoe UI"/>
                        </a:rPr>
                        <a:t>Vehicle type</a:t>
                      </a:r>
                    </a:p>
                  </a:txBody>
                  <a:tcPr>
                    <a:solidFill>
                      <a:srgbClr val="0B4A80"/>
                    </a:solidFill>
                  </a:tcPr>
                </a:tc>
                <a:tc>
                  <a:txBody>
                    <a:bodyPr/>
                    <a:lstStyle/>
                    <a:p>
                      <a:r>
                        <a:rPr sz="1400" b="1">
                          <a:solidFill>
                            <a:srgbClr val="FFFFFF"/>
                          </a:solidFill>
                          <a:latin typeface="Segoe UI"/>
                        </a:rPr>
                        <a:t>All records</a:t>
                      </a:r>
                    </a:p>
                  </a:txBody>
                  <a:tcPr>
                    <a:solidFill>
                      <a:srgbClr val="0B4A80"/>
                    </a:solidFill>
                  </a:tcPr>
                </a:tc>
                <a:tc>
                  <a:txBody>
                    <a:bodyPr/>
                    <a:lstStyle/>
                    <a:p>
                      <a:r>
                        <a:rPr sz="1400" b="1">
                          <a:solidFill>
                            <a:srgbClr val="FFFFFF"/>
                          </a:solidFill>
                          <a:latin typeface="Segoe UI"/>
                        </a:rPr>
                        <a:t>Excl. extremes</a:t>
                      </a:r>
                    </a:p>
                  </a:txBody>
                  <a:tcPr>
                    <a:solidFill>
                      <a:srgbClr val="0B4A80"/>
                    </a:solidFill>
                  </a:tcPr>
                </a:tc>
                <a:extLst>
                  <a:ext uri="{0D108BD9-81ED-4DB2-BD59-A6C34878D82A}">
                    <a16:rowId xmlns:a16="http://schemas.microsoft.com/office/drawing/2014/main" val="10000"/>
                  </a:ext>
                </a:extLst>
              </a:tr>
              <a:tr h="365760">
                <a:tc>
                  <a:txBody>
                    <a:bodyPr/>
                    <a:lstStyle/>
                    <a:p>
                      <a:r>
                        <a:rPr sz="1400" b="0">
                          <a:solidFill>
                            <a:srgbClr val="333333"/>
                          </a:solidFill>
                          <a:latin typeface="Segoe UI"/>
                        </a:rPr>
                        <a:t>Unknown</a:t>
                      </a:r>
                    </a:p>
                  </a:txBody>
                  <a:tcPr>
                    <a:solidFill>
                      <a:srgbClr val="FFFFFF"/>
                    </a:solidFill>
                  </a:tcPr>
                </a:tc>
                <a:tc>
                  <a:txBody>
                    <a:bodyPr/>
                    <a:lstStyle/>
                    <a:p>
                      <a:r>
                        <a:rPr sz="1400" b="0">
                          <a:solidFill>
                            <a:srgbClr val="888888"/>
                          </a:solidFill>
                          <a:latin typeface="Segoe UI"/>
                        </a:rPr>
                        <a:t>$1.002</a:t>
                      </a:r>
                    </a:p>
                  </a:txBody>
                  <a:tcPr>
                    <a:solidFill>
                      <a:srgbClr val="FFFFFF"/>
                    </a:solidFill>
                  </a:tcPr>
                </a:tc>
                <a:tc>
                  <a:txBody>
                    <a:bodyPr/>
                    <a:lstStyle/>
                    <a:p>
                      <a:r>
                        <a:rPr sz="1400" b="1">
                          <a:solidFill>
                            <a:srgbClr val="0B4A80"/>
                          </a:solidFill>
                          <a:latin typeface="Segoe UI"/>
                        </a:rPr>
                        <a:t>$1.003</a:t>
                      </a:r>
                    </a:p>
                  </a:txBody>
                  <a:tcPr>
                    <a:solidFill>
                      <a:srgbClr val="FFFFFF"/>
                    </a:solidFill>
                  </a:tcPr>
                </a:tc>
                <a:extLst>
                  <a:ext uri="{0D108BD9-81ED-4DB2-BD59-A6C34878D82A}">
                    <a16:rowId xmlns:a16="http://schemas.microsoft.com/office/drawing/2014/main" val="10001"/>
                  </a:ext>
                </a:extLst>
              </a:tr>
              <a:tr h="365760">
                <a:tc>
                  <a:txBody>
                    <a:bodyPr/>
                    <a:lstStyle/>
                    <a:p>
                      <a:r>
                        <a:rPr sz="1400" b="0">
                          <a:solidFill>
                            <a:srgbClr val="333333"/>
                          </a:solidFill>
                          <a:latin typeface="Segoe UI"/>
                        </a:rPr>
                        <a:t>Private</a:t>
                      </a:r>
                    </a:p>
                  </a:txBody>
                  <a:tcPr>
                    <a:solidFill>
                      <a:srgbClr val="FFFFFF"/>
                    </a:solidFill>
                  </a:tcPr>
                </a:tc>
                <a:tc>
                  <a:txBody>
                    <a:bodyPr/>
                    <a:lstStyle/>
                    <a:p>
                      <a:r>
                        <a:rPr sz="1400" b="0">
                          <a:solidFill>
                            <a:srgbClr val="888888"/>
                          </a:solidFill>
                          <a:latin typeface="Segoe UI"/>
                        </a:rPr>
                        <a:t>$0.943</a:t>
                      </a:r>
                    </a:p>
                  </a:txBody>
                  <a:tcPr>
                    <a:solidFill>
                      <a:srgbClr val="FFFFFF"/>
                    </a:solidFill>
                  </a:tcPr>
                </a:tc>
                <a:tc>
                  <a:txBody>
                    <a:bodyPr/>
                    <a:lstStyle/>
                    <a:p>
                      <a:r>
                        <a:rPr sz="1400" b="1" dirty="0">
                          <a:solidFill>
                            <a:srgbClr val="0B4A80"/>
                          </a:solidFill>
                          <a:latin typeface="Segoe UI"/>
                        </a:rPr>
                        <a:t>$0.944</a:t>
                      </a:r>
                    </a:p>
                  </a:txBody>
                  <a:tcPr>
                    <a:solidFill>
                      <a:srgbClr val="FFFFFF"/>
                    </a:solidFill>
                  </a:tcPr>
                </a:tc>
                <a:extLst>
                  <a:ext uri="{0D108BD9-81ED-4DB2-BD59-A6C34878D82A}">
                    <a16:rowId xmlns:a16="http://schemas.microsoft.com/office/drawing/2014/main" val="10002"/>
                  </a:ext>
                </a:extLst>
              </a:tr>
              <a:tr h="365760">
                <a:tc>
                  <a:txBody>
                    <a:bodyPr/>
                    <a:lstStyle/>
                    <a:p>
                      <a:r>
                        <a:rPr sz="1400" b="0">
                          <a:solidFill>
                            <a:srgbClr val="333333"/>
                          </a:solidFill>
                          <a:latin typeface="Segoe UI"/>
                        </a:rPr>
                        <a:t>Medium Car</a:t>
                      </a:r>
                    </a:p>
                  </a:txBody>
                  <a:tcPr>
                    <a:solidFill>
                      <a:srgbClr val="FFFFFF"/>
                    </a:solidFill>
                  </a:tcPr>
                </a:tc>
                <a:tc>
                  <a:txBody>
                    <a:bodyPr/>
                    <a:lstStyle/>
                    <a:p>
                      <a:r>
                        <a:rPr sz="1400" b="0">
                          <a:solidFill>
                            <a:srgbClr val="888888"/>
                          </a:solidFill>
                          <a:latin typeface="Segoe UI"/>
                        </a:rPr>
                        <a:t>$0.924</a:t>
                      </a:r>
                    </a:p>
                  </a:txBody>
                  <a:tcPr>
                    <a:solidFill>
                      <a:srgbClr val="FFFFFF"/>
                    </a:solidFill>
                  </a:tcPr>
                </a:tc>
                <a:tc>
                  <a:txBody>
                    <a:bodyPr/>
                    <a:lstStyle/>
                    <a:p>
                      <a:r>
                        <a:rPr sz="1400" b="1" dirty="0">
                          <a:solidFill>
                            <a:srgbClr val="0B4A80"/>
                          </a:solidFill>
                          <a:latin typeface="Segoe UI"/>
                        </a:rPr>
                        <a:t>$0.925</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8385048" y="1298448"/>
            <a:ext cx="3346704" cy="914400"/>
          </a:xfrm>
          <a:prstGeom prst="rect">
            <a:avLst/>
          </a:prstGeom>
          <a:noFill/>
        </p:spPr>
        <p:txBody>
          <a:bodyPr wrap="square">
            <a:spAutoFit/>
          </a:bodyPr>
          <a:lstStyle/>
          <a:p>
            <a:r>
              <a:rPr sz="3200" b="1" dirty="0">
                <a:solidFill>
                  <a:srgbClr val="0B4A80"/>
                </a:solidFill>
                <a:latin typeface="Segoe UI"/>
              </a:rPr>
              <a:t>$0.944</a:t>
            </a:r>
          </a:p>
          <a:p>
            <a:r>
              <a:rPr sz="1200" b="0" dirty="0">
                <a:solidFill>
                  <a:srgbClr val="888888"/>
                </a:solidFill>
                <a:latin typeface="Segoe UI"/>
              </a:rPr>
              <a:t>tip per mile, all card payments</a:t>
            </a:r>
          </a:p>
        </p:txBody>
      </p:sp>
      <p:sp>
        <p:nvSpPr>
          <p:cNvPr id="8" name="TextBox 7"/>
          <p:cNvSpPr txBox="1"/>
          <p:nvPr/>
        </p:nvSpPr>
        <p:spPr>
          <a:xfrm>
            <a:off x="457200" y="3108960"/>
            <a:ext cx="7562088" cy="914400"/>
          </a:xfrm>
          <a:prstGeom prst="rect">
            <a:avLst/>
          </a:prstGeom>
          <a:noFill/>
        </p:spPr>
        <p:txBody>
          <a:bodyPr wrap="square">
            <a:spAutoFit/>
          </a:bodyPr>
          <a:lstStyle/>
          <a:p>
            <a:r>
              <a:rPr sz="1600" b="0">
                <a:solidFill>
                  <a:srgbClr val="333333"/>
                </a:solidFill>
                <a:latin typeface="Segoe UI"/>
              </a:rPr>
              <a:t>Cash tips are not recorded in TLC data, so only card payments are counted. Excluding the extreme values changes the result by less than 0.2%.</a:t>
            </a:r>
          </a:p>
        </p:txBody>
      </p:sp>
      <p:graphicFrame>
        <p:nvGraphicFramePr>
          <p:cNvPr id="9" name="Chart 8"/>
          <p:cNvGraphicFramePr>
            <a:graphicFrameLocks noGrp="1"/>
          </p:cNvGraphicFramePr>
          <p:nvPr/>
        </p:nvGraphicFramePr>
        <p:xfrm>
          <a:off x="5038344" y="1298448"/>
          <a:ext cx="3291840" cy="1463526"/>
        </p:xfrm>
        <a:graphic>
          <a:graphicData uri="http://schemas.openxmlformats.org/drawingml/2006/chart">
            <c:chart xmlns:c="http://schemas.openxmlformats.org/drawingml/2006/chart"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800" dirty="0">
                <a:solidFill>
                  <a:srgbClr val="333333"/>
                </a:solidFill>
              </a:rPr>
              <a:t>The afternoon pays the least per minute; single records distort 04:00 and 20:00</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8</a:t>
            </a:fld>
            <a:endParaRPr lang="en-US"/>
          </a:p>
        </p:txBody>
      </p:sp>
      <p:sp>
        <p:nvSpPr>
          <p:cNvPr id="8" name="TextBox 7"/>
          <p:cNvSpPr txBox="1"/>
          <p:nvPr/>
        </p:nvSpPr>
        <p:spPr>
          <a:xfrm>
            <a:off x="8385048" y="1298448"/>
            <a:ext cx="3346704" cy="914400"/>
          </a:xfrm>
          <a:prstGeom prst="rect">
            <a:avLst/>
          </a:prstGeom>
          <a:noFill/>
        </p:spPr>
        <p:txBody>
          <a:bodyPr wrap="square">
            <a:spAutoFit/>
          </a:bodyPr>
          <a:lstStyle/>
          <a:p>
            <a:r>
              <a:rPr sz="3200" b="1">
                <a:solidFill>
                  <a:srgbClr val="0B4A80"/>
                </a:solidFill>
                <a:latin typeface="Segoe UI"/>
              </a:rPr>
              <a:t>$1.061</a:t>
            </a:r>
          </a:p>
          <a:p>
            <a:r>
              <a:rPr sz="1200" b="0">
                <a:solidFill>
                  <a:srgbClr val="888888"/>
                </a:solidFill>
                <a:latin typeface="Segoe UI"/>
              </a:rPr>
              <a:t>per minute 13:00–17:00, vs $1.358 at other hours</a:t>
            </a:r>
          </a:p>
        </p:txBody>
      </p:sp>
      <p:sp>
        <p:nvSpPr>
          <p:cNvPr id="9" name="TextBox 8"/>
          <p:cNvSpPr txBox="1"/>
          <p:nvPr/>
        </p:nvSpPr>
        <p:spPr>
          <a:xfrm>
            <a:off x="8385048" y="2395728"/>
            <a:ext cx="3346704" cy="914400"/>
          </a:xfrm>
          <a:prstGeom prst="rect">
            <a:avLst/>
          </a:prstGeom>
          <a:noFill/>
        </p:spPr>
        <p:txBody>
          <a:bodyPr wrap="square">
            <a:spAutoFit/>
          </a:bodyPr>
          <a:lstStyle/>
          <a:p>
            <a:r>
              <a:rPr sz="3200" b="1">
                <a:solidFill>
                  <a:srgbClr val="0B4A80"/>
                </a:solidFill>
                <a:latin typeface="Segoe UI"/>
              </a:rPr>
              <a:t>−$1.794</a:t>
            </a:r>
          </a:p>
          <a:p>
            <a:r>
              <a:rPr sz="1200" b="0">
                <a:solidFill>
                  <a:srgbClr val="888888"/>
                </a:solidFill>
                <a:latin typeface="Segoe UI"/>
              </a:rPr>
              <a:t>at 04:00: one record with a duration of −531,231 minutes</a:t>
            </a:r>
          </a:p>
        </p:txBody>
      </p:sp>
      <p:sp>
        <p:nvSpPr>
          <p:cNvPr id="10" name="TextBox 9"/>
          <p:cNvSpPr txBox="1"/>
          <p:nvPr/>
        </p:nvSpPr>
        <p:spPr>
          <a:xfrm>
            <a:off x="8385048" y="3493008"/>
            <a:ext cx="3346704" cy="914400"/>
          </a:xfrm>
          <a:prstGeom prst="rect">
            <a:avLst/>
          </a:prstGeom>
          <a:noFill/>
        </p:spPr>
        <p:txBody>
          <a:bodyPr wrap="square">
            <a:spAutoFit/>
          </a:bodyPr>
          <a:lstStyle/>
          <a:p>
            <a:r>
              <a:rPr sz="3200" b="1">
                <a:solidFill>
                  <a:srgbClr val="0B4A80"/>
                </a:solidFill>
                <a:latin typeface="Segoe UI"/>
              </a:rPr>
              <a:t>$2.227</a:t>
            </a:r>
          </a:p>
          <a:p>
            <a:r>
              <a:rPr sz="1200" b="0">
                <a:solidFill>
                  <a:srgbClr val="888888"/>
                </a:solidFill>
                <a:latin typeface="Segoe UI"/>
              </a:rPr>
              <a:t>at 20:00: the same $429,562 trip as on Monday</a:t>
            </a:r>
          </a:p>
        </p:txBody>
      </p:sp>
      <p:sp>
        <p:nvSpPr>
          <p:cNvPr id="11" name="TextBox 10"/>
          <p:cNvSpPr txBox="1"/>
          <p:nvPr/>
        </p:nvSpPr>
        <p:spPr>
          <a:xfrm>
            <a:off x="8385048" y="4846320"/>
            <a:ext cx="3346704" cy="1188720"/>
          </a:xfrm>
          <a:prstGeom prst="rect">
            <a:avLst/>
          </a:prstGeom>
          <a:noFill/>
        </p:spPr>
        <p:txBody>
          <a:bodyPr wrap="square">
            <a:spAutoFit/>
          </a:bodyPr>
          <a:lstStyle/>
          <a:p>
            <a:r>
              <a:rPr sz="1400" b="0">
                <a:solidFill>
                  <a:srgbClr val="333333"/>
                </a:solidFill>
                <a:latin typeface="Segoe UI"/>
              </a:rPr>
              <a:t>The busy afternoon hours are the slowest, so they pay the least per minute.</a:t>
            </a:r>
          </a:p>
        </p:txBody>
      </p:sp>
      <p:graphicFrame>
        <p:nvGraphicFramePr>
          <p:cNvPr id="12" name="Chart 11"/>
          <p:cNvGraphicFramePr>
            <a:graphicFrameLocks noGrp="1"/>
          </p:cNvGraphicFramePr>
          <p:nvPr/>
        </p:nvGraphicFramePr>
        <p:xfrm>
          <a:off x="457200" y="1298448"/>
          <a:ext cx="7562088" cy="3372825"/>
        </p:xfrm>
        <a:graphic>
          <a:graphicData uri="http://schemas.openxmlformats.org/drawingml/2006/chart">
            <c:chart xmlns:c="http://schemas.openxmlformats.org/drawingml/2006/chart" r:id="rId4"/>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solidFill>
                  <a:srgbClr val="333333"/>
                </a:solidFill>
              </a:rPr>
              <a:t>What to do with these results</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9</a:t>
            </a:fld>
            <a:endParaRPr lang="en-US"/>
          </a:p>
        </p:txBody>
      </p:sp>
      <p:sp>
        <p:nvSpPr>
          <p:cNvPr id="5" name="TextBox 4"/>
          <p:cNvSpPr txBox="1"/>
          <p:nvPr/>
        </p:nvSpPr>
        <p:spPr>
          <a:xfrm>
            <a:off x="457200" y="1298448"/>
            <a:ext cx="5404104" cy="4846320"/>
          </a:xfrm>
          <a:prstGeom prst="rect">
            <a:avLst/>
          </a:prstGeom>
          <a:noFill/>
        </p:spPr>
        <p:txBody>
          <a:bodyPr wrap="square">
            <a:spAutoFit/>
          </a:bodyPr>
          <a:lstStyle/>
          <a:p>
            <a:r>
              <a:rPr sz="2000" b="1">
                <a:solidFill>
                  <a:srgbClr val="0B4A80"/>
                </a:solidFill>
                <a:latin typeface="Segoe UI"/>
              </a:rPr>
              <a:t>Vendor</a:t>
            </a:r>
          </a:p>
          <a:p>
            <a:r>
              <a:rPr sz="1600" b="0">
                <a:solidFill>
                  <a:srgbClr val="333333"/>
                </a:solidFill>
                <a:latin typeface="Segoe UI"/>
              </a:rPr>
              <a:t>• Plan the most cars for weekday afternoons, 13:00–17:00 (35.4% of trips), and for Friday and Tuesday.</a:t>
            </a:r>
          </a:p>
          <a:p>
            <a:r>
              <a:rPr sz="1600" b="0">
                <a:solidFill>
                  <a:srgbClr val="333333"/>
                </a:solidFill>
                <a:latin typeface="Segoe UI"/>
              </a:rPr>
              <a:t>• Keep supply in Manhattan (86.33% of pickups); treat airports as few trips with high value ($48.15 per JFK pickup).</a:t>
            </a:r>
          </a:p>
          <a:p>
            <a:r>
              <a:rPr sz="1600" b="0">
                <a:solidFill>
                  <a:srgbClr val="333333"/>
                </a:solidFill>
                <a:latin typeface="Segoe UI"/>
              </a:rPr>
              <a:t>• Check trip data at the source: 6,608 records (0.74%) have impossible values, and one of them changes two answers.</a:t>
            </a:r>
          </a:p>
        </p:txBody>
      </p:sp>
      <p:sp>
        <p:nvSpPr>
          <p:cNvPr id="6" name="TextBox 5"/>
          <p:cNvSpPr txBox="1"/>
          <p:nvPr/>
        </p:nvSpPr>
        <p:spPr>
          <a:xfrm>
            <a:off x="6190488" y="1298448"/>
            <a:ext cx="5404104" cy="4846320"/>
          </a:xfrm>
          <a:prstGeom prst="rect">
            <a:avLst/>
          </a:prstGeom>
          <a:noFill/>
        </p:spPr>
        <p:txBody>
          <a:bodyPr wrap="square">
            <a:spAutoFit/>
          </a:bodyPr>
          <a:lstStyle/>
          <a:p>
            <a:r>
              <a:rPr sz="2000" b="1">
                <a:solidFill>
                  <a:srgbClr val="0B4A80"/>
                </a:solidFill>
                <a:latin typeface="Segoe UI"/>
              </a:rPr>
              <a:t>Driver</a:t>
            </a:r>
          </a:p>
          <a:p>
            <a:r>
              <a:rPr sz="1600" b="0">
                <a:solidFill>
                  <a:srgbClr val="333333"/>
                </a:solidFill>
                <a:latin typeface="Segoe UI"/>
              </a:rPr>
              <a:t>• Afternoon traffic pays the least per minute: $1.061 at 13:00–17:00 vs $1.358 at other hours.</a:t>
            </a:r>
          </a:p>
          <a:p>
            <a:r>
              <a:rPr sz="1600" b="0">
                <a:solidFill>
                  <a:srgbClr val="333333"/>
                </a:solidFill>
                <a:latin typeface="Segoe UI"/>
              </a:rPr>
              <a:t>• The JFK flat fare pays $58.85 per trip for 29.88 minutes (6,880 trips).</a:t>
            </a:r>
          </a:p>
          <a:p>
            <a:r>
              <a:rPr sz="1600" b="0">
                <a:solidFill>
                  <a:srgbClr val="333333"/>
                </a:solidFill>
                <a:latin typeface="Segoe UI"/>
              </a:rPr>
              <a:t>• Once the single $429,562 trip is set aside, the weekday matters little; the hour and the place matter more.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solidFill>
                  <a:srgbClr val="333333"/>
                </a:solidFill>
              </a:rPr>
              <a:t>Own initiative: the same analysis without the 6,608 extreme records</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9</a:t>
            </a:fld>
            <a:endParaRPr lang="en-US"/>
          </a:p>
        </p:txBody>
      </p:sp>
      <p:sp>
        <p:nvSpPr>
          <p:cNvPr id="5" name="TextBox 4"/>
          <p:cNvSpPr txBox="1"/>
          <p:nvPr/>
        </p:nvSpPr>
        <p:spPr>
          <a:xfrm>
            <a:off x="457200" y="1298448"/>
            <a:ext cx="5577840" cy="4846320"/>
          </a:xfrm>
          <a:prstGeom prst="rect">
            <a:avLst/>
          </a:prstGeom>
          <a:noFill/>
        </p:spPr>
        <p:txBody>
          <a:bodyPr wrap="square">
            <a:spAutoFit/>
          </a:bodyPr>
          <a:lstStyle/>
          <a:p>
            <a:r>
              <a:rPr sz="2000" b="1">
                <a:solidFill>
                  <a:srgbClr val="0B4A80"/>
                </a:solidFill>
                <a:latin typeface="Segoe UI"/>
              </a:rPr>
              <a:t>Why</a:t>
            </a:r>
          </a:p>
          <a:p>
            <a:r>
              <a:rPr sz="1600" b="0">
                <a:solidFill>
                  <a:srgbClr val="333333"/>
                </a:solidFill>
                <a:latin typeface="Segoe UI"/>
              </a:rPr>
              <a:t>• A few impossible values can move averages a lot, so I also looked at the answers without them.</a:t>
            </a:r>
          </a:p>
          <a:p>
            <a:r>
              <a:rPr sz="1600" b="0">
                <a:solidFill>
                  <a:srgbClr val="333333"/>
                </a:solidFill>
                <a:latin typeface="Segoe UI"/>
              </a:rPr>
              <a:t>• The records are flagged in a Data Quality Flag column, not deleted, and filtered on separate report pages marked (excl.).</a:t>
            </a:r>
          </a:p>
          <a:p/>
          <a:p>
            <a:r>
              <a:rPr sz="2000" b="1">
                <a:solidFill>
                  <a:srgbClr val="0B4A80"/>
                </a:solidFill>
                <a:latin typeface="Segoe UI"/>
              </a:rPr>
              <a:t>Answers without the extreme values</a:t>
            </a:r>
          </a:p>
          <a:p>
            <a:r>
              <a:rPr sz="1600" b="0">
                <a:solidFill>
                  <a:srgbClr val="333333"/>
                </a:solidFill>
                <a:latin typeface="Segoe UI"/>
              </a:rPr>
              <a:t>• Best income days: Sunday ($17.07) and Friday ($16.49).</a:t>
            </a:r>
          </a:p>
          <a:p>
            <a:r>
              <a:rPr sz="1600" b="0">
                <a:solidFill>
                  <a:srgbClr val="333333"/>
                </a:solidFill>
                <a:latin typeface="Segoe UI"/>
              </a:rPr>
              <a:t>• Best hour per minute: 04:00 ($1.722); worst: 15:00 ($1.203).</a:t>
            </a:r>
          </a:p>
          <a:p>
            <a:r>
              <a:rPr sz="1600" b="0">
                <a:solidFill>
                  <a:srgbClr val="333333"/>
                </a:solidFill>
                <a:latin typeface="Segoe UI"/>
              </a:rPr>
              <a:t>• Busiest days, peak hours, tips and zones: the same as with all records.</a:t>
            </a:r>
          </a:p>
          <a:p>
            <a:r>
              <a:rPr sz="1600" b="0">
                <a:solidFill>
                  <a:srgbClr val="333333"/>
                </a:solidFill>
                <a:latin typeface="Segoe UI"/>
              </a:rPr>
              <a:t>• Full deck for this view: presentation/B_extremes-excluded.</a:t>
            </a:r>
          </a:p>
        </p:txBody>
      </p:sp>
      <p:graphicFrame>
        <p:nvGraphicFramePr>
          <p:cNvPr id="6" name="Table 5"/>
          <p:cNvGraphicFramePr>
            <a:graphicFrameLocks noGrp="1"/>
          </p:cNvGraphicFramePr>
          <p:nvPr/>
        </p:nvGraphicFramePr>
        <p:xfrm>
          <a:off x="6400800" y="1298448"/>
          <a:ext cx="5330952" cy="3072384"/>
        </p:xfrm>
        <a:graphic>
          <a:graphicData uri="http://schemas.openxmlformats.org/drawingml/2006/table">
            <a:tbl>
              <a:tblPr firstRow="1" bandRow="0">
                <a:tableStyleId>{5C22544A-7EE6-4342-B048-85BDC9FD1C3A}</a:tableStyleId>
              </a:tblPr>
              <a:tblGrid>
                <a:gridCol w="1600200"/>
                <a:gridCol w="2743200"/>
                <a:gridCol w="987552"/>
              </a:tblGrid>
              <a:tr h="384048">
                <a:tc>
                  <a:txBody>
                    <a:bodyPr wrap="square"/>
                    <a:lstStyle/>
                    <a:p>
                      <a:pPr algn="l"/>
                      <a:r>
                        <a:rPr sz="1200" b="1">
                          <a:solidFill>
                            <a:srgbClr val="FFFFFF"/>
                          </a:solidFill>
                          <a:latin typeface="Segoe UI"/>
                        </a:rPr>
                        <a:t>Flag</a:t>
                      </a:r>
                    </a:p>
                  </a:txBody>
                  <a:tcPr marL="73152" marR="73152" marT="27432" marB="27432">
                    <a:solidFill>
                      <a:srgbClr val="0B4A80"/>
                    </a:solidFill>
                  </a:tcPr>
                </a:tc>
                <a:tc>
                  <a:txBody>
                    <a:bodyPr wrap="square"/>
                    <a:lstStyle/>
                    <a:p>
                      <a:pPr algn="l"/>
                      <a:r>
                        <a:rPr sz="1200" b="1">
                          <a:solidFill>
                            <a:srgbClr val="FFFFFF"/>
                          </a:solidFill>
                          <a:latin typeface="Segoe UI"/>
                        </a:rPr>
                        <a:t>Rule</a:t>
                      </a:r>
                    </a:p>
                  </a:txBody>
                  <a:tcPr marL="73152" marR="73152" marT="27432" marB="27432">
                    <a:solidFill>
                      <a:srgbClr val="0B4A80"/>
                    </a:solidFill>
                  </a:tcPr>
                </a:tc>
                <a:tc>
                  <a:txBody>
                    <a:bodyPr wrap="square"/>
                    <a:lstStyle/>
                    <a:p>
                      <a:pPr algn="l"/>
                      <a:r>
                        <a:rPr sz="1200" b="1">
                          <a:solidFill>
                            <a:srgbClr val="FFFFFF"/>
                          </a:solidFill>
                          <a:latin typeface="Segoe UI"/>
                        </a:rPr>
                        <a:t>Records</a:t>
                      </a:r>
                    </a:p>
                  </a:txBody>
                  <a:tcPr marL="73152" marR="73152" marT="27432" marB="27432">
                    <a:solidFill>
                      <a:srgbClr val="0B4A80"/>
                    </a:solidFill>
                  </a:tcPr>
                </a:tc>
              </a:tr>
              <a:tr h="384048">
                <a:tc>
                  <a:txBody>
                    <a:bodyPr wrap="square"/>
                    <a:lstStyle/>
                    <a:p>
                      <a:pPr algn="l"/>
                      <a:r>
                        <a:rPr sz="1200" b="0">
                          <a:solidFill>
                            <a:srgbClr val="333333"/>
                          </a:solidFill>
                          <a:latin typeface="Segoe UI"/>
                        </a:rPr>
                        <a:t>negative_fare</a:t>
                      </a:r>
                    </a:p>
                  </a:txBody>
                  <a:tcPr marL="73152" marR="73152" marT="27432" marB="27432">
                    <a:solidFill>
                      <a:srgbClr val="FFFFFF"/>
                    </a:solidFill>
                  </a:tcPr>
                </a:tc>
                <a:tc>
                  <a:txBody>
                    <a:bodyPr wrap="square"/>
                    <a:lstStyle/>
                    <a:p>
                      <a:pPr algn="l"/>
                      <a:r>
                        <a:rPr sz="1200" b="0">
                          <a:solidFill>
                            <a:srgbClr val="333333"/>
                          </a:solidFill>
                          <a:latin typeface="Segoe UI"/>
                        </a:rPr>
                        <a:t>fare below $0</a:t>
                      </a:r>
                    </a:p>
                  </a:txBody>
                  <a:tcPr marL="73152" marR="73152" marT="27432" marB="27432">
                    <a:solidFill>
                      <a:srgbClr val="FFFFFF"/>
                    </a:solidFill>
                  </a:tcPr>
                </a:tc>
                <a:tc>
                  <a:txBody>
                    <a:bodyPr wrap="square"/>
                    <a:lstStyle/>
                    <a:p>
                      <a:pPr algn="r"/>
                      <a:r>
                        <a:rPr sz="1200" b="0">
                          <a:solidFill>
                            <a:srgbClr val="333333"/>
                          </a:solidFill>
                          <a:latin typeface="Segoe UI"/>
                        </a:rPr>
                        <a:t>4,062</a:t>
                      </a:r>
                    </a:p>
                  </a:txBody>
                  <a:tcPr marL="73152" marR="73152" marT="27432" marB="27432">
                    <a:solidFill>
                      <a:srgbClr val="FFFFFF"/>
                    </a:solidFill>
                  </a:tcPr>
                </a:tc>
              </a:tr>
              <a:tr h="384048">
                <a:tc>
                  <a:txBody>
                    <a:bodyPr wrap="square"/>
                    <a:lstStyle/>
                    <a:p>
                      <a:pPr algn="l"/>
                      <a:r>
                        <a:rPr sz="1200" b="0">
                          <a:solidFill>
                            <a:srgbClr val="333333"/>
                          </a:solidFill>
                          <a:latin typeface="Segoe UI"/>
                        </a:rPr>
                        <a:t>duration_gt_300</a:t>
                      </a:r>
                    </a:p>
                  </a:txBody>
                  <a:tcPr marL="73152" marR="73152" marT="27432" marB="27432">
                    <a:solidFill>
                      <a:srgbClr val="F4F6F9"/>
                    </a:solidFill>
                  </a:tcPr>
                </a:tc>
                <a:tc>
                  <a:txBody>
                    <a:bodyPr wrap="square"/>
                    <a:lstStyle/>
                    <a:p>
                      <a:pPr algn="l"/>
                      <a:r>
                        <a:rPr sz="1200" b="0">
                          <a:solidFill>
                            <a:srgbClr val="333333"/>
                          </a:solidFill>
                          <a:latin typeface="Segoe UI"/>
                        </a:rPr>
                        <a:t>trip longer than 5 hours</a:t>
                      </a:r>
                    </a:p>
                  </a:txBody>
                  <a:tcPr marL="73152" marR="73152" marT="27432" marB="27432">
                    <a:solidFill>
                      <a:srgbClr val="F4F6F9"/>
                    </a:solidFill>
                  </a:tcPr>
                </a:tc>
                <a:tc>
                  <a:txBody>
                    <a:bodyPr wrap="square"/>
                    <a:lstStyle/>
                    <a:p>
                      <a:pPr algn="r"/>
                      <a:r>
                        <a:rPr sz="1200" b="0">
                          <a:solidFill>
                            <a:srgbClr val="333333"/>
                          </a:solidFill>
                          <a:latin typeface="Segoe UI"/>
                        </a:rPr>
                        <a:t>1,281</a:t>
                      </a:r>
                    </a:p>
                  </a:txBody>
                  <a:tcPr marL="73152" marR="73152" marT="27432" marB="27432">
                    <a:solidFill>
                      <a:srgbClr val="F4F6F9"/>
                    </a:solidFill>
                  </a:tcPr>
                </a:tc>
              </a:tr>
              <a:tr h="384048">
                <a:tc>
                  <a:txBody>
                    <a:bodyPr wrap="square"/>
                    <a:lstStyle/>
                    <a:p>
                      <a:pPr algn="l"/>
                      <a:r>
                        <a:rPr sz="1200" b="0">
                          <a:solidFill>
                            <a:srgbClr val="333333"/>
                          </a:solidFill>
                          <a:latin typeface="Segoe UI"/>
                        </a:rPr>
                        <a:t>duration_le_0</a:t>
                      </a:r>
                    </a:p>
                  </a:txBody>
                  <a:tcPr marL="73152" marR="73152" marT="27432" marB="27432">
                    <a:solidFill>
                      <a:srgbClr val="FFFFFF"/>
                    </a:solidFill>
                  </a:tcPr>
                </a:tc>
                <a:tc>
                  <a:txBody>
                    <a:bodyPr wrap="square"/>
                    <a:lstStyle/>
                    <a:p>
                      <a:pPr algn="l"/>
                      <a:r>
                        <a:rPr sz="1200" b="0">
                          <a:solidFill>
                            <a:srgbClr val="333333"/>
                          </a:solidFill>
                          <a:latin typeface="Segoe UI"/>
                        </a:rPr>
                        <a:t>duration of 0 minutes or less</a:t>
                      </a:r>
                    </a:p>
                  </a:txBody>
                  <a:tcPr marL="73152" marR="73152" marT="27432" marB="27432">
                    <a:solidFill>
                      <a:srgbClr val="FFFFFF"/>
                    </a:solidFill>
                  </a:tcPr>
                </a:tc>
                <a:tc>
                  <a:txBody>
                    <a:bodyPr wrap="square"/>
                    <a:lstStyle/>
                    <a:p>
                      <a:pPr algn="r"/>
                      <a:r>
                        <a:rPr sz="1200" b="0">
                          <a:solidFill>
                            <a:srgbClr val="333333"/>
                          </a:solidFill>
                          <a:latin typeface="Segoe UI"/>
                        </a:rPr>
                        <a:t>1,211</a:t>
                      </a:r>
                    </a:p>
                  </a:txBody>
                  <a:tcPr marL="73152" marR="73152" marT="27432" marB="27432">
                    <a:solidFill>
                      <a:srgbClr val="FFFFFF"/>
                    </a:solidFill>
                  </a:tcPr>
                </a:tc>
              </a:tr>
              <a:tr h="384048">
                <a:tc>
                  <a:txBody>
                    <a:bodyPr wrap="square"/>
                    <a:lstStyle/>
                    <a:p>
                      <a:pPr algn="l"/>
                      <a:r>
                        <a:rPr sz="1200" b="0">
                          <a:solidFill>
                            <a:srgbClr val="333333"/>
                          </a:solidFill>
                          <a:latin typeface="Segoe UI"/>
                        </a:rPr>
                        <a:t>distance_gt_200</a:t>
                      </a:r>
                    </a:p>
                  </a:txBody>
                  <a:tcPr marL="73152" marR="73152" marT="27432" marB="27432">
                    <a:solidFill>
                      <a:srgbClr val="F4F6F9"/>
                    </a:solidFill>
                  </a:tcPr>
                </a:tc>
                <a:tc>
                  <a:txBody>
                    <a:bodyPr wrap="square"/>
                    <a:lstStyle/>
                    <a:p>
                      <a:pPr algn="l"/>
                      <a:r>
                        <a:rPr sz="1200" b="0">
                          <a:solidFill>
                            <a:srgbClr val="333333"/>
                          </a:solidFill>
                          <a:latin typeface="Segoe UI"/>
                        </a:rPr>
                        <a:t>distance above 200 miles</a:t>
                      </a:r>
                    </a:p>
                  </a:txBody>
                  <a:tcPr marL="73152" marR="73152" marT="27432" marB="27432">
                    <a:solidFill>
                      <a:srgbClr val="F4F6F9"/>
                    </a:solidFill>
                  </a:tcPr>
                </a:tc>
                <a:tc>
                  <a:txBody>
                    <a:bodyPr wrap="square"/>
                    <a:lstStyle/>
                    <a:p>
                      <a:pPr algn="r"/>
                      <a:r>
                        <a:rPr sz="1200" b="0">
                          <a:solidFill>
                            <a:srgbClr val="333333"/>
                          </a:solidFill>
                          <a:latin typeface="Segoe UI"/>
                        </a:rPr>
                        <a:t>30</a:t>
                      </a:r>
                    </a:p>
                  </a:txBody>
                  <a:tcPr marL="73152" marR="73152" marT="27432" marB="27432">
                    <a:solidFill>
                      <a:srgbClr val="F4F6F9"/>
                    </a:solidFill>
                  </a:tcPr>
                </a:tc>
              </a:tr>
              <a:tr h="384048">
                <a:tc>
                  <a:txBody>
                    <a:bodyPr wrap="square"/>
                    <a:lstStyle/>
                    <a:p>
                      <a:pPr algn="l"/>
                      <a:r>
                        <a:rPr sz="1200" b="0">
                          <a:solidFill>
                            <a:srgbClr val="333333"/>
                          </a:solidFill>
                          <a:latin typeface="Segoe UI"/>
                        </a:rPr>
                        <a:t>out_of_period</a:t>
                      </a:r>
                    </a:p>
                  </a:txBody>
                  <a:tcPr marL="73152" marR="73152" marT="27432" marB="27432">
                    <a:solidFill>
                      <a:srgbClr val="FFFFFF"/>
                    </a:solidFill>
                  </a:tcPr>
                </a:tc>
                <a:tc>
                  <a:txBody>
                    <a:bodyPr wrap="square"/>
                    <a:lstStyle/>
                    <a:p>
                      <a:pPr algn="l"/>
                      <a:r>
                        <a:rPr sz="1200" b="0">
                          <a:solidFill>
                            <a:srgbClr val="333333"/>
                          </a:solidFill>
                          <a:latin typeface="Segoe UI"/>
                        </a:rPr>
                        <a:t>date outside May–June 2020</a:t>
                      </a:r>
                    </a:p>
                  </a:txBody>
                  <a:tcPr marL="73152" marR="73152" marT="27432" marB="27432">
                    <a:solidFill>
                      <a:srgbClr val="FFFFFF"/>
                    </a:solidFill>
                  </a:tcPr>
                </a:tc>
                <a:tc>
                  <a:txBody>
                    <a:bodyPr wrap="square"/>
                    <a:lstStyle/>
                    <a:p>
                      <a:pPr algn="r"/>
                      <a:r>
                        <a:rPr sz="1200" b="0">
                          <a:solidFill>
                            <a:srgbClr val="333333"/>
                          </a:solidFill>
                          <a:latin typeface="Segoe UI"/>
                        </a:rPr>
                        <a:t>23</a:t>
                      </a:r>
                    </a:p>
                  </a:txBody>
                  <a:tcPr marL="73152" marR="73152" marT="27432" marB="27432">
                    <a:solidFill>
                      <a:srgbClr val="FFFFFF"/>
                    </a:solidFill>
                  </a:tcPr>
                </a:tc>
              </a:tr>
              <a:tr h="384048">
                <a:tc>
                  <a:txBody>
                    <a:bodyPr wrap="square"/>
                    <a:lstStyle/>
                    <a:p>
                      <a:pPr algn="l"/>
                      <a:r>
                        <a:rPr sz="1200" b="0">
                          <a:solidFill>
                            <a:srgbClr val="333333"/>
                          </a:solidFill>
                          <a:latin typeface="Segoe UI"/>
                        </a:rPr>
                        <a:t>fare_gt_1000</a:t>
                      </a:r>
                    </a:p>
                  </a:txBody>
                  <a:tcPr marL="73152" marR="73152" marT="27432" marB="27432">
                    <a:solidFill>
                      <a:srgbClr val="F4F6F9"/>
                    </a:solidFill>
                  </a:tcPr>
                </a:tc>
                <a:tc>
                  <a:txBody>
                    <a:bodyPr wrap="square"/>
                    <a:lstStyle/>
                    <a:p>
                      <a:pPr algn="l"/>
                      <a:r>
                        <a:rPr sz="1200" b="0">
                          <a:solidFill>
                            <a:srgbClr val="333333"/>
                          </a:solidFill>
                          <a:latin typeface="Segoe UI"/>
                        </a:rPr>
                        <a:t>fare above $1,000</a:t>
                      </a:r>
                    </a:p>
                  </a:txBody>
                  <a:tcPr marL="73152" marR="73152" marT="27432" marB="27432">
                    <a:solidFill>
                      <a:srgbClr val="F4F6F9"/>
                    </a:solidFill>
                  </a:tcPr>
                </a:tc>
                <a:tc>
                  <a:txBody>
                    <a:bodyPr wrap="square"/>
                    <a:lstStyle/>
                    <a:p>
                      <a:pPr algn="r"/>
                      <a:r>
                        <a:rPr sz="1200" b="0">
                          <a:solidFill>
                            <a:srgbClr val="333333"/>
                          </a:solidFill>
                          <a:latin typeface="Segoe UI"/>
                        </a:rPr>
                        <a:t>1</a:t>
                      </a:r>
                    </a:p>
                  </a:txBody>
                  <a:tcPr marL="73152" marR="73152" marT="27432" marB="27432">
                    <a:solidFill>
                      <a:srgbClr val="F4F6F9"/>
                    </a:solidFill>
                  </a:tcPr>
                </a:tc>
              </a:tr>
              <a:tr h="384048">
                <a:tc>
                  <a:txBody>
                    <a:bodyPr wrap="square"/>
                    <a:lstStyle/>
                    <a:p>
                      <a:pPr algn="l"/>
                      <a:r>
                        <a:rPr sz="1200" b="1">
                          <a:solidFill>
                            <a:srgbClr val="333333"/>
                          </a:solidFill>
                          <a:latin typeface="Segoe UI"/>
                        </a:rPr>
                        <a:t>Total</a:t>
                      </a:r>
                    </a:p>
                  </a:txBody>
                  <a:tcPr marL="73152" marR="73152" marT="27432" marB="27432">
                    <a:solidFill>
                      <a:srgbClr val="FFFFFF"/>
                    </a:solidFill>
                  </a:tcPr>
                </a:tc>
                <a:tc>
                  <a:txBody>
                    <a:bodyPr wrap="square"/>
                    <a:lstStyle/>
                    <a:p>
                      <a:pPr algn="r"/>
                      <a:r>
                        <a:rPr sz="1200" b="1">
                          <a:solidFill>
                            <a:srgbClr val="333333"/>
                          </a:solidFill>
                          <a:latin typeface="Segoe UI"/>
                        </a:rPr>
                        <a:t>0.74% of 898,131 records</a:t>
                      </a:r>
                    </a:p>
                  </a:txBody>
                  <a:tcPr marL="73152" marR="73152" marT="27432" marB="27432">
                    <a:solidFill>
                      <a:srgbClr val="FFFFFF"/>
                    </a:solidFill>
                  </a:tcPr>
                </a:tc>
                <a:tc>
                  <a:txBody>
                    <a:bodyPr wrap="square"/>
                    <a:lstStyle/>
                    <a:p>
                      <a:pPr algn="r"/>
                      <a:r>
                        <a:rPr sz="1200" b="1">
                          <a:solidFill>
                            <a:srgbClr val="333333"/>
                          </a:solidFill>
                          <a:latin typeface="Segoe UI"/>
                        </a:rPr>
                        <a:t>6,608</a:t>
                      </a:r>
                    </a:p>
                  </a:txBody>
                  <a:tcPr marL="73152" marR="73152"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solidFill>
                  <a:srgbClr val="333333"/>
                </a:solidFill>
              </a:rPr>
              <a:t>Comparison: 4 of 6 answers stay the same; 2 change because of single records</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9</a:t>
            </a:fld>
            <a:endParaRPr lang="en-US"/>
          </a:p>
        </p:txBody>
      </p:sp>
      <p:sp>
        <p:nvSpPr>
          <p:cNvPr id="5" name="TextBox 4"/>
          <p:cNvSpPr txBox="1"/>
          <p:nvPr/>
        </p:nvSpPr>
        <p:spPr>
          <a:xfrm>
            <a:off x="457200" y="4434840"/>
            <a:ext cx="11274552" cy="1463040"/>
          </a:xfrm>
          <a:prstGeom prst="rect">
            <a:avLst/>
          </a:prstGeom>
          <a:noFill/>
        </p:spPr>
        <p:txBody>
          <a:bodyPr wrap="square">
            <a:spAutoFit/>
          </a:bodyPr>
          <a:lstStyle/>
          <a:p>
            <a:r>
              <a:rPr sz="1600" b="0">
                <a:solidFill>
                  <a:srgbClr val="333333"/>
                </a:solidFill>
                <a:latin typeface="Segoe UI"/>
              </a:rPr>
              <a:t>• Totals change little: +0.7% trips per day, +2.9% farebox per day.</a:t>
            </a:r>
          </a:p>
          <a:p>
            <a:r>
              <a:rPr sz="1600" b="0">
                <a:solidFill>
                  <a:srgbClr val="333333"/>
                </a:solidFill>
                <a:latin typeface="Segoe UI"/>
              </a:rPr>
              <a:t>• Averages over time and distance move most: minutes per trip +10.1%, average speed +49.4%, income per minute −7.1%.</a:t>
            </a:r>
          </a:p>
          <a:p>
            <a:r>
              <a:rPr sz="1600" b="0">
                <a:solidFill>
                  <a:srgbClr val="333333"/>
                </a:solidFill>
                <a:latin typeface="Segoe UI"/>
              </a:rPr>
              <a:t>• Δ% = (all records − extremes excluded) / extremes excluded. All values come from SQL and match the Power BI comparison page.</a:t>
            </a:r>
          </a:p>
        </p:txBody>
      </p:sp>
      <p:graphicFrame>
        <p:nvGraphicFramePr>
          <p:cNvPr id="6" name="Table 5"/>
          <p:cNvGraphicFramePr>
            <a:graphicFrameLocks noGrp="1"/>
          </p:cNvGraphicFramePr>
          <p:nvPr/>
        </p:nvGraphicFramePr>
        <p:xfrm>
          <a:off x="457200" y="1298448"/>
          <a:ext cx="11274552" cy="2944368"/>
        </p:xfrm>
        <a:graphic>
          <a:graphicData uri="http://schemas.openxmlformats.org/drawingml/2006/table">
            <a:tbl>
              <a:tblPr firstRow="1" bandRow="0">
                <a:tableStyleId>{5C22544A-7EE6-4342-B048-85BDC9FD1C3A}</a:tableStyleId>
              </a:tblPr>
              <a:tblGrid>
                <a:gridCol w="2148840"/>
                <a:gridCol w="3246120"/>
                <a:gridCol w="3246120"/>
                <a:gridCol w="2633472"/>
              </a:tblGrid>
              <a:tr h="420624">
                <a:tc>
                  <a:txBody>
                    <a:bodyPr wrap="square"/>
                    <a:lstStyle/>
                    <a:p>
                      <a:pPr algn="l"/>
                      <a:r>
                        <a:rPr sz="1200" b="1">
                          <a:solidFill>
                            <a:srgbClr val="FFFFFF"/>
                          </a:solidFill>
                          <a:latin typeface="Segoe UI"/>
                        </a:rPr>
                        <a:t>Question</a:t>
                      </a:r>
                    </a:p>
                  </a:txBody>
                  <a:tcPr marL="73152" marR="73152" marT="27432" marB="27432">
                    <a:solidFill>
                      <a:srgbClr val="0B4A80"/>
                    </a:solidFill>
                  </a:tcPr>
                </a:tc>
                <a:tc>
                  <a:txBody>
                    <a:bodyPr wrap="square"/>
                    <a:lstStyle/>
                    <a:p>
                      <a:pPr algn="l"/>
                      <a:r>
                        <a:rPr sz="1200" b="1">
                          <a:solidFill>
                            <a:srgbClr val="FFFFFF"/>
                          </a:solidFill>
                          <a:latin typeface="Segoe UI"/>
                        </a:rPr>
                        <a:t>All records</a:t>
                      </a:r>
                    </a:p>
                  </a:txBody>
                  <a:tcPr marL="73152" marR="73152" marT="27432" marB="27432">
                    <a:solidFill>
                      <a:srgbClr val="0B4A80"/>
                    </a:solidFill>
                  </a:tcPr>
                </a:tc>
                <a:tc>
                  <a:txBody>
                    <a:bodyPr wrap="square"/>
                    <a:lstStyle/>
                    <a:p>
                      <a:pPr algn="l"/>
                      <a:r>
                        <a:rPr sz="1200" b="1">
                          <a:solidFill>
                            <a:srgbClr val="FFFFFF"/>
                          </a:solidFill>
                          <a:latin typeface="Segoe UI"/>
                        </a:rPr>
                        <a:t>Extremes excluded</a:t>
                      </a:r>
                    </a:p>
                  </a:txBody>
                  <a:tcPr marL="73152" marR="73152" marT="27432" marB="27432">
                    <a:solidFill>
                      <a:srgbClr val="0B4A80"/>
                    </a:solidFill>
                  </a:tcPr>
                </a:tc>
                <a:tc>
                  <a:txBody>
                    <a:bodyPr wrap="square"/>
                    <a:lstStyle/>
                    <a:p>
                      <a:pPr algn="l"/>
                      <a:r>
                        <a:rPr sz="1200" b="1">
                          <a:solidFill>
                            <a:srgbClr val="FFFFFF"/>
                          </a:solidFill>
                          <a:latin typeface="Segoe UI"/>
                        </a:rPr>
                        <a:t>Changed</a:t>
                      </a:r>
                    </a:p>
                  </a:txBody>
                  <a:tcPr marL="73152" marR="73152" marT="27432" marB="27432">
                    <a:solidFill>
                      <a:srgbClr val="0B4A80"/>
                    </a:solidFill>
                  </a:tcPr>
                </a:tc>
              </a:tr>
              <a:tr h="420624">
                <a:tc>
                  <a:txBody>
                    <a:bodyPr wrap="square"/>
                    <a:lstStyle/>
                    <a:p>
                      <a:pPr algn="l"/>
                      <a:r>
                        <a:rPr sz="1200" b="0">
                          <a:solidFill>
                            <a:srgbClr val="333333"/>
                          </a:solidFill>
                          <a:latin typeface="Segoe UI"/>
                        </a:rPr>
                        <a:t>1 Busiest days</a:t>
                      </a:r>
                    </a:p>
                  </a:txBody>
                  <a:tcPr marL="73152" marR="73152" marT="27432" marB="27432">
                    <a:solidFill>
                      <a:srgbClr val="FFFFFF"/>
                    </a:solidFill>
                  </a:tcPr>
                </a:tc>
                <a:tc>
                  <a:txBody>
                    <a:bodyPr wrap="square"/>
                    <a:lstStyle/>
                    <a:p>
                      <a:pPr algn="l"/>
                      <a:r>
                        <a:rPr sz="1200" b="0">
                          <a:solidFill>
                            <a:srgbClr val="333333"/>
                          </a:solidFill>
                          <a:latin typeface="Segoe UI"/>
                        </a:rPr>
                        <a:t>Friday 17,099.7 · Tuesday 16,761.6</a:t>
                      </a:r>
                    </a:p>
                  </a:txBody>
                  <a:tcPr marL="73152" marR="73152" marT="27432" marB="27432">
                    <a:solidFill>
                      <a:srgbClr val="FFFFFF"/>
                    </a:solidFill>
                  </a:tcPr>
                </a:tc>
                <a:tc>
                  <a:txBody>
                    <a:bodyPr wrap="square"/>
                    <a:lstStyle/>
                    <a:p>
                      <a:pPr algn="l"/>
                      <a:r>
                        <a:rPr sz="1200" b="0">
                          <a:solidFill>
                            <a:srgbClr val="333333"/>
                          </a:solidFill>
                          <a:latin typeface="Segoe UI"/>
                        </a:rPr>
                        <a:t>Friday 16,978 · Tuesday 16,643</a:t>
                      </a:r>
                    </a:p>
                  </a:txBody>
                  <a:tcPr marL="73152" marR="73152" marT="27432" marB="27432">
                    <a:solidFill>
                      <a:srgbClr val="FFFFFF"/>
                    </a:solidFill>
                  </a:tcPr>
                </a:tc>
                <a:tc>
                  <a:txBody>
                    <a:bodyPr wrap="square"/>
                    <a:lstStyle/>
                    <a:p>
                      <a:pPr algn="l"/>
                      <a:r>
                        <a:rPr sz="1200" b="0">
                          <a:solidFill>
                            <a:srgbClr val="333333"/>
                          </a:solidFill>
                          <a:latin typeface="Segoe UI"/>
                        </a:rPr>
                        <a:t>No</a:t>
                      </a:r>
                    </a:p>
                  </a:txBody>
                  <a:tcPr marL="73152" marR="73152" marT="27432" marB="27432">
                    <a:solidFill>
                      <a:srgbClr val="FFFFFF"/>
                    </a:solidFill>
                  </a:tcPr>
                </a:tc>
              </a:tr>
              <a:tr h="420624">
                <a:tc>
                  <a:txBody>
                    <a:bodyPr wrap="square"/>
                    <a:lstStyle/>
                    <a:p>
                      <a:pPr algn="l"/>
                      <a:r>
                        <a:rPr sz="1200" b="0">
                          <a:solidFill>
                            <a:srgbClr val="333333"/>
                          </a:solidFill>
                          <a:latin typeface="Segoe UI"/>
                        </a:rPr>
                        <a:t>2 Peak hours</a:t>
                      </a:r>
                    </a:p>
                  </a:txBody>
                  <a:tcPr marL="73152" marR="73152" marT="27432" marB="27432">
                    <a:solidFill>
                      <a:srgbClr val="F4F6F9"/>
                    </a:solidFill>
                  </a:tcPr>
                </a:tc>
                <a:tc>
                  <a:txBody>
                    <a:bodyPr wrap="square"/>
                    <a:lstStyle/>
                    <a:p>
                      <a:pPr algn="l"/>
                      <a:r>
                        <a:rPr sz="1200" b="0">
                          <a:solidFill>
                            <a:srgbClr val="333333"/>
                          </a:solidFill>
                          <a:latin typeface="Segoe UI"/>
                        </a:rPr>
                        <a:t>13:00–17:00 (35.44%)</a:t>
                      </a:r>
                    </a:p>
                  </a:txBody>
                  <a:tcPr marL="73152" marR="73152" marT="27432" marB="27432">
                    <a:solidFill>
                      <a:srgbClr val="F4F6F9"/>
                    </a:solidFill>
                  </a:tcPr>
                </a:tc>
                <a:tc>
                  <a:txBody>
                    <a:bodyPr wrap="square"/>
                    <a:lstStyle/>
                    <a:p>
                      <a:pPr algn="l"/>
                      <a:r>
                        <a:rPr sz="1200" b="0">
                          <a:solidFill>
                            <a:srgbClr val="333333"/>
                          </a:solidFill>
                          <a:latin typeface="Segoe UI"/>
                        </a:rPr>
                        <a:t>13:00–17:00 (35.44%)</a:t>
                      </a:r>
                    </a:p>
                  </a:txBody>
                  <a:tcPr marL="73152" marR="73152" marT="27432" marB="27432">
                    <a:solidFill>
                      <a:srgbClr val="F4F6F9"/>
                    </a:solidFill>
                  </a:tcPr>
                </a:tc>
                <a:tc>
                  <a:txBody>
                    <a:bodyPr wrap="square"/>
                    <a:lstStyle/>
                    <a:p>
                      <a:pPr algn="l"/>
                      <a:r>
                        <a:rPr sz="1200" b="0">
                          <a:solidFill>
                            <a:srgbClr val="333333"/>
                          </a:solidFill>
                          <a:latin typeface="Segoe UI"/>
                        </a:rPr>
                        <a:t>No</a:t>
                      </a:r>
                    </a:p>
                  </a:txBody>
                  <a:tcPr marL="73152" marR="73152" marT="27432" marB="27432">
                    <a:solidFill>
                      <a:srgbClr val="F4F6F9"/>
                    </a:solidFill>
                  </a:tcPr>
                </a:tc>
              </a:tr>
              <a:tr h="420624">
                <a:tc>
                  <a:txBody>
                    <a:bodyPr wrap="square"/>
                    <a:lstStyle/>
                    <a:p>
                      <a:pPr algn="l"/>
                      <a:r>
                        <a:rPr sz="1200" b="0">
                          <a:solidFill>
                            <a:srgbClr val="333333"/>
                          </a:solidFill>
                          <a:latin typeface="Segoe UI"/>
                        </a:rPr>
                        <a:t>3 Best income days</a:t>
                      </a:r>
                    </a:p>
                  </a:txBody>
                  <a:tcPr marL="73152" marR="73152" marT="27432" marB="27432">
                    <a:solidFill>
                      <a:srgbClr val="FFFFFF"/>
                    </a:solidFill>
                  </a:tcPr>
                </a:tc>
                <a:tc>
                  <a:txBody>
                    <a:bodyPr wrap="square"/>
                    <a:lstStyle/>
                    <a:p>
                      <a:pPr algn="l"/>
                      <a:r>
                        <a:rPr sz="1200" b="0">
                          <a:solidFill>
                            <a:srgbClr val="333333"/>
                          </a:solidFill>
                          <a:latin typeface="Segoe UI"/>
                        </a:rPr>
                        <a:t>Monday $19.21 · Sunday $16.93</a:t>
                      </a:r>
                    </a:p>
                  </a:txBody>
                  <a:tcPr marL="73152" marR="73152" marT="27432" marB="27432">
                    <a:solidFill>
                      <a:srgbClr val="FFFFFF"/>
                    </a:solidFill>
                  </a:tcPr>
                </a:tc>
                <a:tc>
                  <a:txBody>
                    <a:bodyPr wrap="square"/>
                    <a:lstStyle/>
                    <a:p>
                      <a:pPr algn="l"/>
                      <a:r>
                        <a:rPr sz="1200" b="0">
                          <a:solidFill>
                            <a:srgbClr val="333333"/>
                          </a:solidFill>
                          <a:latin typeface="Segoe UI"/>
                        </a:rPr>
                        <a:t>Sunday $17.07 · Friday $16.49</a:t>
                      </a:r>
                    </a:p>
                  </a:txBody>
                  <a:tcPr marL="73152" marR="73152" marT="27432" marB="27432">
                    <a:solidFill>
                      <a:srgbClr val="FFFFFF"/>
                    </a:solidFill>
                  </a:tcPr>
                </a:tc>
                <a:tc>
                  <a:txBody>
                    <a:bodyPr wrap="square"/>
                    <a:lstStyle/>
                    <a:p>
                      <a:pPr algn="l"/>
                      <a:r>
                        <a:rPr sz="1200" b="0">
                          <a:solidFill>
                            <a:srgbClr val="333333"/>
                          </a:solidFill>
                          <a:latin typeface="Segoe UI"/>
                        </a:rPr>
                        <a:t>Yes – one $429,562 trip</a:t>
                      </a:r>
                    </a:p>
                  </a:txBody>
                  <a:tcPr marL="73152" marR="73152" marT="27432" marB="27432">
                    <a:solidFill>
                      <a:srgbClr val="F4B18C"/>
                    </a:solidFill>
                  </a:tcPr>
                </a:tc>
              </a:tr>
              <a:tr h="420624">
                <a:tc>
                  <a:txBody>
                    <a:bodyPr wrap="square"/>
                    <a:lstStyle/>
                    <a:p>
                      <a:pPr algn="l"/>
                      <a:r>
                        <a:rPr sz="1200" b="0">
                          <a:solidFill>
                            <a:srgbClr val="333333"/>
                          </a:solidFill>
                          <a:latin typeface="Segoe UI"/>
                        </a:rPr>
                        <a:t>4 Tip per mile (card)</a:t>
                      </a:r>
                    </a:p>
                  </a:txBody>
                  <a:tcPr marL="73152" marR="73152" marT="27432" marB="27432">
                    <a:solidFill>
                      <a:srgbClr val="F4F6F9"/>
                    </a:solidFill>
                  </a:tcPr>
                </a:tc>
                <a:tc>
                  <a:txBody>
                    <a:bodyPr wrap="square"/>
                    <a:lstStyle/>
                    <a:p>
                      <a:pPr algn="l"/>
                      <a:r>
                        <a:rPr sz="1200" b="0">
                          <a:solidFill>
                            <a:srgbClr val="333333"/>
                          </a:solidFill>
                          <a:latin typeface="Segoe UI"/>
                        </a:rPr>
                        <a:t>Unknown $1.002 · Private $0.943</a:t>
                      </a:r>
                    </a:p>
                  </a:txBody>
                  <a:tcPr marL="73152" marR="73152" marT="27432" marB="27432">
                    <a:solidFill>
                      <a:srgbClr val="F4F6F9"/>
                    </a:solidFill>
                  </a:tcPr>
                </a:tc>
                <a:tc>
                  <a:txBody>
                    <a:bodyPr wrap="square"/>
                    <a:lstStyle/>
                    <a:p>
                      <a:pPr algn="l"/>
                      <a:r>
                        <a:rPr sz="1200" b="0">
                          <a:solidFill>
                            <a:srgbClr val="333333"/>
                          </a:solidFill>
                          <a:latin typeface="Segoe UI"/>
                        </a:rPr>
                        <a:t>Unknown $1.003 · Private $0.944</a:t>
                      </a:r>
                    </a:p>
                  </a:txBody>
                  <a:tcPr marL="73152" marR="73152" marT="27432" marB="27432">
                    <a:solidFill>
                      <a:srgbClr val="F4F6F9"/>
                    </a:solidFill>
                  </a:tcPr>
                </a:tc>
                <a:tc>
                  <a:txBody>
                    <a:bodyPr wrap="square"/>
                    <a:lstStyle/>
                    <a:p>
                      <a:pPr algn="l"/>
                      <a:r>
                        <a:rPr sz="1200" b="0">
                          <a:solidFill>
                            <a:srgbClr val="333333"/>
                          </a:solidFill>
                          <a:latin typeface="Segoe UI"/>
                        </a:rPr>
                        <a:t>No</a:t>
                      </a:r>
                    </a:p>
                  </a:txBody>
                  <a:tcPr marL="73152" marR="73152" marT="27432" marB="27432">
                    <a:solidFill>
                      <a:srgbClr val="F4F6F9"/>
                    </a:solidFill>
                  </a:tcPr>
                </a:tc>
              </a:tr>
              <a:tr h="420624">
                <a:tc>
                  <a:txBody>
                    <a:bodyPr wrap="square"/>
                    <a:lstStyle/>
                    <a:p>
                      <a:pPr algn="l"/>
                      <a:r>
                        <a:rPr sz="1200" b="0">
                          <a:solidFill>
                            <a:srgbClr val="333333"/>
                          </a:solidFill>
                          <a:latin typeface="Segoe UI"/>
                        </a:rPr>
                        <a:t>5 Zones</a:t>
                      </a:r>
                    </a:p>
                  </a:txBody>
                  <a:tcPr marL="73152" marR="73152" marT="27432" marB="27432">
                    <a:solidFill>
                      <a:srgbClr val="FFFFFF"/>
                    </a:solidFill>
                  </a:tcPr>
                </a:tc>
                <a:tc>
                  <a:txBody>
                    <a:bodyPr wrap="square"/>
                    <a:lstStyle/>
                    <a:p>
                      <a:pPr algn="l"/>
                      <a:r>
                        <a:rPr sz="1200" b="0">
                          <a:solidFill>
                            <a:srgbClr val="333333"/>
                          </a:solidFill>
                          <a:latin typeface="Segoe UI"/>
                        </a:rPr>
                        <a:t>Manhattan 86.33% · Kips Bay 35,327</a:t>
                      </a:r>
                    </a:p>
                  </a:txBody>
                  <a:tcPr marL="73152" marR="73152" marT="27432" marB="27432">
                    <a:solidFill>
                      <a:srgbClr val="FFFFFF"/>
                    </a:solidFill>
                  </a:tcPr>
                </a:tc>
                <a:tc>
                  <a:txBody>
                    <a:bodyPr wrap="square"/>
                    <a:lstStyle/>
                    <a:p>
                      <a:pPr algn="l"/>
                      <a:r>
                        <a:rPr sz="1200" b="0">
                          <a:solidFill>
                            <a:srgbClr val="333333"/>
                          </a:solidFill>
                          <a:latin typeface="Segoe UI"/>
                        </a:rPr>
                        <a:t>Manhattan 86.37% · Kips Bay 35,081</a:t>
                      </a:r>
                    </a:p>
                  </a:txBody>
                  <a:tcPr marL="73152" marR="73152" marT="27432" marB="27432">
                    <a:solidFill>
                      <a:srgbClr val="FFFFFF"/>
                    </a:solidFill>
                  </a:tcPr>
                </a:tc>
                <a:tc>
                  <a:txBody>
                    <a:bodyPr wrap="square"/>
                    <a:lstStyle/>
                    <a:p>
                      <a:pPr algn="l"/>
                      <a:r>
                        <a:rPr sz="1200" b="0">
                          <a:solidFill>
                            <a:srgbClr val="333333"/>
                          </a:solidFill>
                          <a:latin typeface="Segoe UI"/>
                        </a:rPr>
                        <a:t>No</a:t>
                      </a:r>
                    </a:p>
                  </a:txBody>
                  <a:tcPr marL="73152" marR="73152" marT="27432" marB="27432">
                    <a:solidFill>
                      <a:srgbClr val="FFFFFF"/>
                    </a:solidFill>
                  </a:tcPr>
                </a:tc>
              </a:tr>
              <a:tr h="420624">
                <a:tc>
                  <a:txBody>
                    <a:bodyPr wrap="square"/>
                    <a:lstStyle/>
                    <a:p>
                      <a:pPr algn="l"/>
                      <a:r>
                        <a:rPr sz="1200" b="0">
                          <a:solidFill>
                            <a:srgbClr val="333333"/>
                          </a:solidFill>
                          <a:latin typeface="Segoe UI"/>
                        </a:rPr>
                        <a:t>6 Income per minute</a:t>
                      </a:r>
                    </a:p>
                  </a:txBody>
                  <a:tcPr marL="73152" marR="73152" marT="27432" marB="27432">
                    <a:solidFill>
                      <a:srgbClr val="F4F6F9"/>
                    </a:solidFill>
                  </a:tcPr>
                </a:tc>
                <a:tc>
                  <a:txBody>
                    <a:bodyPr wrap="square"/>
                    <a:lstStyle/>
                    <a:p>
                      <a:pPr algn="l"/>
                      <a:r>
                        <a:rPr sz="1200" b="0">
                          <a:solidFill>
                            <a:srgbClr val="333333"/>
                          </a:solidFill>
                          <a:latin typeface="Segoe UI"/>
                        </a:rPr>
                        <a:t>Best 20:00 $2.227 · 04:00 negative</a:t>
                      </a:r>
                    </a:p>
                  </a:txBody>
                  <a:tcPr marL="73152" marR="73152" marT="27432" marB="27432">
                    <a:solidFill>
                      <a:srgbClr val="F4F6F9"/>
                    </a:solidFill>
                  </a:tcPr>
                </a:tc>
                <a:tc>
                  <a:txBody>
                    <a:bodyPr wrap="square"/>
                    <a:lstStyle/>
                    <a:p>
                      <a:pPr algn="l"/>
                      <a:r>
                        <a:rPr sz="1200" b="0">
                          <a:solidFill>
                            <a:srgbClr val="333333"/>
                          </a:solidFill>
                          <a:latin typeface="Segoe UI"/>
                        </a:rPr>
                        <a:t>Best 04:00 $1.722</a:t>
                      </a:r>
                    </a:p>
                  </a:txBody>
                  <a:tcPr marL="73152" marR="73152" marT="27432" marB="27432">
                    <a:solidFill>
                      <a:srgbClr val="F4F6F9"/>
                    </a:solidFill>
                  </a:tcPr>
                </a:tc>
                <a:tc>
                  <a:txBody>
                    <a:bodyPr wrap="square"/>
                    <a:lstStyle/>
                    <a:p>
                      <a:pPr algn="l"/>
                      <a:r>
                        <a:rPr sz="1200" b="0">
                          <a:solidFill>
                            <a:srgbClr val="333333"/>
                          </a:solidFill>
                          <a:latin typeface="Segoe UI"/>
                        </a:rPr>
                        <a:t>Yes – one −531,231-min trip</a:t>
                      </a:r>
                    </a:p>
                  </a:txBody>
                  <a:tcPr marL="73152" marR="73152" marT="27432" marB="27432">
                    <a:solidFill>
                      <a:srgbClr val="F4B18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solidFill>
                  <a:srgbClr val="333333"/>
                </a:solidFill>
              </a:rPr>
              <a:t>Limits of this analysis and next steps</a:t>
            </a:r>
          </a:p>
        </p:txBody>
      </p:sp>
      <p:sp>
        <p:nvSpPr>
          <p:cNvPr id="3" name="Footer Placeholder 2">
            <a:extLst>
              <a:ext uri="{FF2B5EF4-FFF2-40B4-BE49-F238E27FC236}">
                <a16:creationId xmlns:a16="http://schemas.microsoft.com/office/drawing/2014/main" id="{38C20691-B5DC-2D8E-6CD7-AA5197AD52B1}"/>
              </a:ext>
            </a:extLst>
          </p:cNvPr>
          <p:cNvSpPr>
            <a:spLocks noGrp="1"/>
          </p:cNvSpPr>
          <p:nvPr>
            <p:ph type="ftr" sz="quarter" idx="11"/>
          </p:nvPr>
        </p:nvSpPr>
        <p:spPr/>
        <p:txBody>
          <a:bodyPr/>
          <a:lstStyle/>
          <a:p>
            <a:pPr algn="l"/>
            <a:r>
              <a:rPr lang="en-US"/>
              <a:t>NYC Yellow Taxi · May–June 2020 · Source: NYC TLC trip records</a:t>
            </a:r>
          </a:p>
        </p:txBody>
      </p:sp>
      <p:sp>
        <p:nvSpPr>
          <p:cNvPr id="4" name="Slide Number Placeholder 3">
            <a:extLst>
              <a:ext uri="{FF2B5EF4-FFF2-40B4-BE49-F238E27FC236}">
                <a16:creationId xmlns:a16="http://schemas.microsoft.com/office/drawing/2014/main" id="{EBC33142-8036-EEFC-39E1-2FAC47CFCED9}"/>
              </a:ext>
            </a:extLst>
          </p:cNvPr>
          <p:cNvSpPr>
            <a:spLocks noGrp="1"/>
          </p:cNvSpPr>
          <p:nvPr>
            <p:ph type="sldNum" sz="quarter" idx="12"/>
          </p:nvPr>
        </p:nvSpPr>
        <p:spPr/>
        <p:txBody>
          <a:bodyPr/>
          <a:lstStyle/>
          <a:p>
            <a:fld id="{A7C81886-1D64-4BE5-B20B-6B36F6AC275F}" type="slidenum">
              <a:rPr lang="en-US" smtClean="0"/>
              <a:pPr/>
              <a:t>10</a:t>
            </a:fld>
            <a:endParaRPr lang="en-US"/>
          </a:p>
        </p:txBody>
      </p:sp>
      <p:sp>
        <p:nvSpPr>
          <p:cNvPr id="5" name="TextBox 4"/>
          <p:cNvSpPr txBox="1"/>
          <p:nvPr/>
        </p:nvSpPr>
        <p:spPr>
          <a:xfrm>
            <a:off x="457200" y="1298448"/>
            <a:ext cx="11265408" cy="4846320"/>
          </a:xfrm>
          <a:prstGeom prst="rect">
            <a:avLst/>
          </a:prstGeom>
          <a:noFill/>
        </p:spPr>
        <p:txBody>
          <a:bodyPr wrap="square">
            <a:spAutoFit/>
          </a:bodyPr>
          <a:lstStyle/>
          <a:p>
            <a:r>
              <a:rPr sz="2000" b="1">
                <a:solidFill>
                  <a:srgbClr val="0B4A80"/>
                </a:solidFill>
                <a:latin typeface="Segoe UI"/>
              </a:rPr>
              <a:t>Limits</a:t>
            </a:r>
          </a:p>
          <a:p>
            <a:r>
              <a:rPr sz="1600" b="0">
                <a:solidFill>
                  <a:srgbClr val="333333"/>
                </a:solidFill>
                <a:latin typeface="Segoe UI"/>
              </a:rPr>
              <a:t>• The flag rules catch impossible values, not every suspicious one: a $950 trip of 0.3 miles passes every rule.</a:t>
            </a:r>
          </a:p>
          <a:p>
            <a:r>
              <a:rPr sz="1600" b="0">
                <a:solidFill>
                  <a:srgbClr val="333333"/>
                </a:solidFill>
                <a:latin typeface="Segoe UI"/>
              </a:rPr>
              <a:t>• Cash tips are not recorded, so tip results use card payments only.</a:t>
            </a:r>
          </a:p>
          <a:p>
            <a:r>
              <a:rPr sz="1600" b="0">
                <a:solidFill>
                  <a:srgbClr val="333333"/>
                </a:solidFill>
                <a:latin typeface="Segoe UI"/>
              </a:rPr>
              <a:t>• Minutes are trip time only; waiting time between trips is not in the data.</a:t>
            </a:r>
          </a:p>
          <a:p>
            <a:r>
              <a:rPr sz="1600" b="0">
                <a:solidFill>
                  <a:srgbClr val="333333"/>
                </a:solidFill>
                <a:latin typeface="Segoe UI"/>
              </a:rPr>
              <a:t>• There is no vehicle or driver ID, so income per shift or per car is unknown.</a:t>
            </a:r>
          </a:p>
          <a:p>
            <a:r>
              <a:rPr sz="1600" b="0">
                <a:solidFill>
                  <a:srgbClr val="333333"/>
                </a:solidFill>
                <a:latin typeface="Segoe UI"/>
              </a:rPr>
              <a:t>• May–June 2020 was the start of the recovery after the lockdown; the results describe that period only.</a:t>
            </a:r>
          </a:p>
          <a:p/>
          <a:p>
            <a:r>
              <a:rPr sz="2000" b="1">
                <a:solidFill>
                  <a:srgbClr val="0B4A80"/>
                </a:solidFill>
                <a:latin typeface="Segoe UI"/>
              </a:rPr>
              <a:t>Next steps</a:t>
            </a:r>
          </a:p>
          <a:p>
            <a:r>
              <a:rPr sz="1600" b="0">
                <a:solidFill>
                  <a:srgbClr val="333333"/>
                </a:solidFill>
                <a:latin typeface="Segoe UI"/>
              </a:rPr>
              <a:t>• Repeat the analysis on a full year of TLC data to compare with normal demand.</a:t>
            </a:r>
          </a:p>
          <a:p>
            <a:r>
              <a:rPr sz="1600" b="0">
                <a:solidFill>
                  <a:srgbClr val="333333"/>
                </a:solidFill>
                <a:latin typeface="Segoe UI"/>
              </a:rPr>
              <a:t>• Add plausibility rules, such as fare per mile, to catch suspicious trips and not only impossible 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YC Taxi">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1265</Words>
  <Application>Microsoft Office PowerPoint</Application>
  <PresentationFormat>Widescreen</PresentationFormat>
  <Paragraphs>124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Segoe UI</vt:lpstr>
      <vt:lpstr>Segoe UI Semibold</vt:lpstr>
      <vt:lpstr>Office Theme</vt:lpstr>
      <vt:lpstr>NYC Yellow Taxi: when, where and how drivers earn</vt:lpstr>
      <vt:lpstr>The data: 891,523 trips, checked in SQL and matched to TLC counts</vt:lpstr>
      <vt:lpstr>Private cars are about 82% of trips every day; Friday and Tuesday are the busiest</vt:lpstr>
      <vt:lpstr>Demand peaks 13:00–17:00 on weekdays, with no morning rush</vt:lpstr>
      <vt:lpstr>Manhattan has 86% of pickups, but trips that start outside it pay about twice as much</vt:lpstr>
      <vt:lpstr>Sunday and Friday pay the most per trip, but the gap between days is only 5.5%</vt:lpstr>
      <vt:lpstr>Tips per mile are about the same for every vehicle type once only card tips are counted</vt:lpstr>
      <vt:lpstr>Night hours pay the most per minute; slow afternoon traffic pays the least</vt:lpstr>
      <vt:lpstr>What to do with these results</vt:lpstr>
      <vt:lpstr>Limits of this analysis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 Iana</dc:creator>
  <cp:lastModifiedBy>Angel Iana</cp:lastModifiedBy>
  <cp:revision>8</cp:revision>
  <dcterms:created xsi:type="dcterms:W3CDTF">2026-10-12T18:47:29Z</dcterms:created>
  <dcterms:modified xsi:type="dcterms:W3CDTF">2026-10-13T09:26:31Z</dcterms:modified>
</cp:coreProperties>
</file>