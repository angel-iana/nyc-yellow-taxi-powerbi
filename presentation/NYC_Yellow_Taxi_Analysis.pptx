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8888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690" autoAdjust="0"/>
  </p:normalViewPr>
  <p:slideViewPr>
    <p:cSldViewPr snapToGrid="0">
      <p:cViewPr varScale="1">
        <p:scale>
          <a:sx n="59" d="100"/>
          <a:sy n="59" d="100"/>
        </p:scale>
        <p:origin x="20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027D2-5FE9-4A2A-88F2-9AE50ED3922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832E2-F798-4651-8995-2DB917144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25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analysis looks at yellow taxi trips in New York in May and June 2020 from two perspectives: the vendor, who needs to know when and where demand happens, and the driver, who wants to know when and where a trip pays the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building the report I loaded the files into SQL Server and checked them. Only trips with impossible values were removed; missing values are kept as Unknown. The totals match the official TLC monthly figures, so the data is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Wednesday and Thursday have 8 days in the period and the other weekdays 9, so I compare trips per day, not total trips. Big Car appears only 4 times in two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May and June 2020 were the start of the recovery after the lockdown. With fewer people commuting to offices, the usual morning peak is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average for all trips is $16.38. Brooklyn ($28.53) and the Bronx ($27.47) are also close to twice the Manhattan value. Per minute the difference is much smaller, because these trips are longer. Newark has only 36 pickups, so I leave it out of the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Driver income here is fare plus extra plus tip. Taxes, tolls and surcharges are passed on, not kept by the driver, so they are not counted.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all trips, Unknown looked much worse. The TLC data dictionary says that tip_amount includes only card tips. Unknown has fewer card payments, so its cash tips were missing. With card payments only, the difference disappears. Big Car has 4 trips with 0 miles, so it cannot be calculated.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Minutes are trip time only. Waiting time between trips is not in the data, and at night there are fewer passengers, so real hourly earnings at night can be 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Vendor recommendations come from Q1, Q2 and q5; driver recommendations from Q3, q5 and q6.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limits come from the data itself. A full year of data would show whether the patterns hold outside the recovery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B735F-CEEF-A179-0570-E7AB7680F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B85A2-D73C-9340-12CC-432CDBAF0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2D06E-E62C-E6E8-2E92-98BFF5937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F224-21C9-4E17-A502-1B98C0261FC3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FFE4F-D875-7BA9-CF52-48CEDF6D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NYC Yellow Taxi · May–June 2020 · Source: NYC TLC trip records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8127D-0D1E-6483-E1A5-0382355C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7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8E6C2-49E8-7730-26E0-A3AF60A50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464"/>
            <a:ext cx="11265408" cy="7955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B5831-0697-4CE7-C664-2E6D06B76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336792"/>
            <a:ext cx="7196328" cy="274320"/>
          </a:xfrm>
        </p:spPr>
        <p:txBody>
          <a:bodyPr/>
          <a:lstStyle/>
          <a:p>
            <a:r>
              <a:rPr lang="en-US"/>
              <a:t>NYC Yellow Taxi · May–June 2020 · Source: NYC TLC trip records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DC1DA-BE16-4AC4-36F6-495451325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0152" y="6336792"/>
            <a:ext cx="1371600" cy="274320"/>
          </a:xfrm>
        </p:spPr>
        <p:txBody>
          <a:bodyPr/>
          <a:lstStyle/>
          <a:p>
            <a:fld id="{A7C81886-1D64-4BE5-B20B-6B36F6AC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1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7A764-CB01-CE7E-5D81-E5160B5F0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90DBF-4D8F-CB78-0BA8-4F423EB2B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052E7-C134-38C6-5375-F1CC6F68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E969-9CBB-4E83-9412-FC58860E52EB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808C5-C5C3-9098-6562-621F2201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NYC Yellow Taxi · May–June 2020 · Source: NYC TLC trip records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FB0B0-10EE-C8DD-1541-5F2A562BC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90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79228-9221-0EA4-D334-8B65CE4F0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49B7B-DCCB-EFA7-F286-53E958A9D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CC215-3B64-78EE-671B-84BC82832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8FDB-8302-453F-B9DC-C69B1325FEB8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05C84-6BEB-CC58-E26D-339BAC23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NYC Yellow Taxi · May–June 2020 · Source: NYC TLC trip records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E8391-4F87-C1EB-0192-11469B90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CAFFF-11C6-3ED5-24CC-8C3BB2A1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5808C-F46D-94C9-31D2-01A49278B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0DD2A-6E7E-2543-7642-0C223DE2A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33B70-C5D8-9123-28FE-E4DEF194F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00A4-B7F6-47C8-98E4-9564FE4F9E1C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E3D4B-08B5-787E-390B-8EBCEC3EC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NYC Yellow Taxi · May–June 2020 · Source: NYC TLC trip records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29081-2163-A34C-5200-3CDEAABC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48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0DCD-3086-32A6-8C46-BD0CAB979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C82D1-6281-1C89-B03F-D98327031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A161E-E8A9-FB0C-FF37-9F1330C8B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8C1D8-496F-5E7E-DD6C-72F243B94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DB15D1-5CFD-8E04-C17D-650455868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2C1544-B876-B41F-1ACD-E98A07C5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0C635-2AFD-4952-8870-3B5F0EF2FD23}" type="datetime1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975DB4-730C-7041-7F77-F0D7219C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NYC Yellow Taxi · May–June 2020 · Source: NYC TLC trip records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AB15DC-8657-8E80-A94B-290B8FF3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37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02EC9-9A16-4637-618D-1F98A9179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ECD97-60FE-4B3E-907E-42C89203ABE2}" type="datetime1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90860F-2893-7623-AE4C-00DBB6B17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NYC Yellow Taxi · May–June 2020 · Source: NYC TLC trip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B1B6A-D35C-BEDA-1384-B4989D04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15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E382A-9FF1-63AB-97EB-BF4D8DE7F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92042-24E1-98DE-E591-D262CB95C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34917-8F16-681C-624C-BF318F45B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22445-55E3-05F7-022D-D1A53AAD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0336-87A8-4667-B42C-DAD0AAE28851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3F87D-FCFA-2F56-0538-27E8FE40B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NYC Yellow Taxi · May–June 2020 · Source: NYC TLC trip records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C8BAD-D58A-3EC6-A6A4-958EEDBB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8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92E1-F8E0-5F99-696C-D4D2FB599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6948E-0E22-2BD3-B8C7-635D55009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09E75-DCF8-CEE2-06C0-82D4CE03C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27032-8F9D-9BBC-0CD6-73F890D1E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4F8C-9D8C-48BF-8E7D-5C3409D54D34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4EBB7-33CA-8FFD-65A3-179287911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NYC Yellow Taxi · May–June 2020 · Source: NYC TLC trip records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16BA6-4A9E-43D6-D1DD-FC9E0187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2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AE4DD-AEC6-DD55-C6BF-1670F669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0E035-11E2-924C-1CCA-0D34473BA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00959-5A45-95BC-E9CF-E966D4AD3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D6CB-FC55-4DC3-BFF7-4174DDA1CD99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8CF5C-9A5E-1606-7899-C3655A25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NYC Yellow Taxi · May–June 2020 · Source: NYC TLC trip records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064C2-2FBE-2D17-BCFE-88DFFDA4C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61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7BF80B-B9AA-0727-A2F9-EF7646B64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D4306-CCB2-E9AB-95DB-E9E34516E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63022-1069-5FB4-8AD8-5D3BF5835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C8DC-B0BC-4CC4-AD29-03C9BB5A1A78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42802-F3DC-28DA-8C28-192537C67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NYC Yellow Taxi · May–June 2020 · Source: NYC TLC trip records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90723-B88A-F1C6-EA45-25612A43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0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CF0D4A-4B02-7474-E57A-9799BD36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154FB-E44C-B62C-16E4-D4AAC87B0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72773-BBE9-20DB-0DF9-0AFEBFB2C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44E7E-0442-40EC-A0E1-8E05450C65E5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9C2DD-6EE1-4B76-6229-BB78856FE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NYC Yellow Taxi · May–June 2020 · Source: NYC TLC trip records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726DC-C468-20BF-6AC7-1E95E6796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1886-1D64-4BE5-B20B-6B36F6AC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80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103120"/>
            <a:ext cx="5852160" cy="1463040"/>
          </a:xfrm>
        </p:spPr>
        <p:txBody>
          <a:bodyPr>
            <a:normAutofit fontScale="90000"/>
          </a:bodyPr>
          <a:lstStyle/>
          <a:p>
            <a:pPr algn="l"/>
            <a:r>
              <a:rPr sz="4000" dirty="0">
                <a:solidFill>
                  <a:srgbClr val="333333"/>
                </a:solidFill>
              </a:rPr>
              <a:t>NYC Yellow Taxi: when, where and how drivers earn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749039"/>
            <a:ext cx="5852160" cy="914400"/>
          </a:xfrm>
        </p:spPr>
        <p:txBody>
          <a:bodyPr/>
          <a:lstStyle/>
          <a:p>
            <a:pPr algn="l"/>
            <a:r>
              <a:rPr sz="2000" b="0">
                <a:solidFill>
                  <a:srgbClr val="888888"/>
                </a:solidFill>
                <a:latin typeface="Segoe UI"/>
              </a:rPr>
              <a:t>Power BI analysis of 891,523 trips</a:t>
            </a:r>
          </a:p>
          <a:p>
            <a:pPr algn="l"/>
            <a:r>
              <a:rPr sz="2000" b="0">
                <a:solidFill>
                  <a:srgbClr val="888888"/>
                </a:solidFill>
                <a:latin typeface="Segoe UI"/>
              </a:rPr>
              <a:t>May–June 2020 · Angel Iana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11"/>
          <a:stretch>
            <a:fillRect/>
          </a:stretch>
        </p:blipFill>
        <p:spPr>
          <a:xfrm>
            <a:off x="6400800" y="1463040"/>
            <a:ext cx="5330952" cy="43256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>
                <a:solidFill>
                  <a:srgbClr val="333333"/>
                </a:solidFill>
              </a:rPr>
              <a:t>The data: 891,523 trips, checked in SQL and matched to TLC counts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20691-B5DC-2D8E-6CD7-AA5197A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NYC Yellow Taxi · May–June 2020 · Source: NYC TLC trip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33142-8036-EEFC-39E1-2FAC47CF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" y="1801368"/>
            <a:ext cx="3063240" cy="1261872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333333"/>
                </a:solidFill>
                <a:latin typeface="Segoe UI"/>
              </a:rPr>
              <a:t>898,131 trips</a:t>
            </a:r>
          </a:p>
          <a:p>
            <a:r>
              <a:rPr sz="1400" b="0">
                <a:solidFill>
                  <a:srgbClr val="333333"/>
                </a:solidFill>
                <a:latin typeface="Segoe UI"/>
              </a:rPr>
              <a:t>TLC trip records, 2 monthly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801368"/>
            <a:ext cx="3063240" cy="1261872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333333"/>
                </a:solidFill>
                <a:latin typeface="Segoe UI"/>
              </a:rPr>
              <a:t>SQL Server checks</a:t>
            </a:r>
          </a:p>
          <a:p>
            <a:r>
              <a:rPr sz="1400" b="0">
                <a:solidFill>
                  <a:srgbClr val="333333"/>
                </a:solidFill>
                <a:latin typeface="Segoe UI"/>
              </a:rPr>
              <a:t>6,608 trips with impossible values excluded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311896" y="1801368"/>
            <a:ext cx="3063240" cy="1261872"/>
          </a:xfrm>
          <a:prstGeom prst="rect">
            <a:avLst/>
          </a:prstGeom>
          <a:solidFill>
            <a:srgbClr val="0B4A80"/>
          </a:solidFill>
          <a:ln>
            <a:solidFill>
              <a:srgbClr val="0B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Power BI report</a:t>
            </a:r>
          </a:p>
          <a:p>
            <a:r>
              <a:rPr sz="1400" b="0">
                <a:solidFill>
                  <a:srgbClr val="FFFFFF"/>
                </a:solidFill>
                <a:latin typeface="Segoe UI"/>
              </a:rPr>
              <a:t>891,523 trips · 4 pages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39312" y="2249424"/>
            <a:ext cx="548640" cy="36576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589520" y="2249424"/>
            <a:ext cx="548640" cy="36576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602736"/>
          <a:ext cx="7315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B4A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Our data (trips per day)</a:t>
                      </a:r>
                    </a:p>
                  </a:txBody>
                  <a:tcPr>
                    <a:solidFill>
                      <a:srgbClr val="0B4A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TLC official</a:t>
                      </a:r>
                    </a:p>
                  </a:txBody>
                  <a:tcPr>
                    <a:solidFill>
                      <a:srgbClr val="0B4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Segoe UI"/>
                        </a:rPr>
                        <a:t>May 2020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Segoe UI"/>
                        </a:rPr>
                        <a:t>11,153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Segoe UI"/>
                        </a:rPr>
                        <a:t>11,237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Segoe UI"/>
                        </a:rPr>
                        <a:t>June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Segoe UI"/>
                        </a:rPr>
                        <a:t>18,192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Segoe UI"/>
                        </a:rPr>
                        <a:t>18,326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120640"/>
            <a:ext cx="1126540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Segoe UI"/>
              </a:rPr>
              <a:t>Our counts are slightly lower because of the 6,608 excluded trips. Every number in this deck comes from a SQL query and matches the Power BI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dirty="0">
                <a:solidFill>
                  <a:srgbClr val="333333"/>
                </a:solidFill>
              </a:rPr>
              <a:t>Private cars are about 82% of trips every day; Friday and Tuesday are the busiest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20691-B5DC-2D8E-6CD7-AA5197A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NYC Yellow Taxi · May–June 2020 · Source: NYC TLC trip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33142-8036-EEFC-39E1-2FAC47CF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 descr="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7562088" cy="3353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5048" y="129844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80.8–82.6%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Private, on every weekday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8" y="239572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16,978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trips per day on Friday, the busiest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349300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9,594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trips per day on Sunday, the quietest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4846320"/>
            <a:ext cx="33467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Segoe UI"/>
              </a:rPr>
              <a:t>The vehicle mix does not depend on the day; only the volume does.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333333"/>
                </a:solidFill>
              </a:rPr>
              <a:t>Demand peaks 13:00–17:00 on weekdays, with no morning rush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20691-B5DC-2D8E-6CD7-AA5197A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NYC Yellow Taxi · May–June 2020 · Source: NYC TLC trip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33142-8036-EEFC-39E1-2FAC47CF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 descr="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4572000" cy="2045049"/>
          </a:xfrm>
          <a:prstGeom prst="rect">
            <a:avLst/>
          </a:prstGeom>
        </p:spPr>
      </p:pic>
      <p:pic>
        <p:nvPicPr>
          <p:cNvPr id="6" name="Picture 5" descr="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7562088" cy="22953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5048" y="129844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35.4%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of trips start between 13:00 and 17:00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39572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1,077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trips per day at 15:00, the peak 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349300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4.2–5.1%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of trips in each hour from 07:00 to 09:00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048" y="4846320"/>
            <a:ext cx="33467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Segoe UI"/>
              </a:rPr>
              <a:t>Most cars are needed on weekday afternoons, not at the usual commute times.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dirty="0">
                <a:solidFill>
                  <a:srgbClr val="333333"/>
                </a:solidFill>
              </a:rPr>
              <a:t>Manhattan has 86% of pickups, but trips that start outside it pay about twice as much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20691-B5DC-2D8E-6CD7-AA5197A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NYC Yellow Taxi · May–June 2020 · Source: NYC TLC trip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33142-8036-EEFC-39E1-2FAC47CF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7124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88888"/>
                </a:solidFill>
                <a:latin typeface="Segoe UI"/>
              </a:rPr>
              <a:t>Pickups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8536" y="1298448"/>
            <a:ext cx="37124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88888"/>
                </a:solidFill>
                <a:latin typeface="Segoe UI"/>
              </a:rPr>
              <a:t>Avg driver income per trip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9"/>
          <a:stretch>
            <a:fillRect/>
          </a:stretch>
        </p:blipFill>
        <p:spPr>
          <a:xfrm>
            <a:off x="457200" y="1645920"/>
            <a:ext cx="3712464" cy="30323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9"/>
          <a:stretch>
            <a:fillRect/>
          </a:stretch>
        </p:blipFill>
        <p:spPr>
          <a:xfrm>
            <a:off x="4288536" y="1645920"/>
            <a:ext cx="3712464" cy="30153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5048" y="129844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86.37%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of pickups are in Manhattan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048" y="239572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$33.68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per trip from Queens, vs $14.17 from Manhattan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048" y="349300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0B4A80"/>
                </a:solidFill>
                <a:latin typeface="Segoe UI"/>
              </a:rPr>
              <a:t>$48.20</a:t>
            </a:r>
          </a:p>
          <a:p>
            <a:r>
              <a:rPr sz="1200" b="0" dirty="0">
                <a:solidFill>
                  <a:srgbClr val="888888"/>
                </a:solidFill>
                <a:latin typeface="Segoe UI"/>
              </a:rPr>
              <a:t>per JFK pickup; airports are only 2.71% of pickups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4846320"/>
            <a:ext cx="33467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Segoe UI"/>
              </a:rPr>
              <a:t>Manhattan brings the volume; airports and outer boroughs bring the value per trip.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dirty="0">
                <a:solidFill>
                  <a:srgbClr val="333333"/>
                </a:solidFill>
              </a:rPr>
              <a:t>Sunday and Friday pay the most per trip, but the gap between days is only 5.5%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20691-B5DC-2D8E-6CD7-AA5197A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NYC Yellow Taxi · May–June 2020 · Source: NYC TLC trip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33142-8036-EEFC-39E1-2FAC47CF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 descr="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7562088" cy="33698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5048" y="129844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$17.07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average driver income per trip on Sunday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8" y="239572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$16.49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on Friday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349300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$0.90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gap between the best and the worst day (Wednesday)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4846320"/>
            <a:ext cx="33467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Segoe UI"/>
              </a:rPr>
              <a:t>For a driver, the day of the week matters much less than the hour or the 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dirty="0">
                <a:solidFill>
                  <a:srgbClr val="333333"/>
                </a:solidFill>
              </a:rPr>
              <a:t>Tips per mile are about the same for every vehicle type once only card tips are counted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20691-B5DC-2D8E-6CD7-AA5197A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NYC Yellow Taxi · May–June 2020 · Source: NYC TLC trip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33142-8036-EEFC-39E1-2FAC47CF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98448"/>
          <a:ext cx="431596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Vehicle type</a:t>
                      </a:r>
                    </a:p>
                  </a:txBody>
                  <a:tcPr>
                    <a:solidFill>
                      <a:srgbClr val="0B4A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All trips</a:t>
                      </a:r>
                    </a:p>
                  </a:txBody>
                  <a:tcPr>
                    <a:solidFill>
                      <a:srgbClr val="0B4A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Card only</a:t>
                      </a:r>
                    </a:p>
                  </a:txBody>
                  <a:tcPr>
                    <a:solidFill>
                      <a:srgbClr val="0B4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Segoe UI"/>
                        </a:rPr>
                        <a:t>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888888"/>
                          </a:solidFill>
                          <a:latin typeface="Segoe UI"/>
                        </a:rPr>
                        <a:t>$0.168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4A80"/>
                          </a:solidFill>
                          <a:latin typeface="Segoe UI"/>
                        </a:rPr>
                        <a:t>$1.003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Segoe UI"/>
                        </a:rPr>
                        <a:t>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888888"/>
                          </a:solidFill>
                          <a:latin typeface="Segoe UI"/>
                        </a:rPr>
                        <a:t>$0.614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0B4A80"/>
                          </a:solidFill>
                          <a:latin typeface="Segoe UI"/>
                        </a:rPr>
                        <a:t>$0.944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Segoe UI"/>
                        </a:rPr>
                        <a:t>Medium 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888888"/>
                          </a:solidFill>
                          <a:latin typeface="Segoe UI"/>
                        </a:rPr>
                        <a:t>$0.616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0B4A80"/>
                          </a:solidFill>
                          <a:latin typeface="Segoe UI"/>
                        </a:rPr>
                        <a:t>$0.925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1298448"/>
            <a:ext cx="3291840" cy="14635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5048" y="129844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0B4A80"/>
                </a:solidFill>
                <a:latin typeface="Segoe UI"/>
              </a:rPr>
              <a:t>$0.945</a:t>
            </a:r>
          </a:p>
          <a:p>
            <a:r>
              <a:rPr sz="1200" b="0" dirty="0">
                <a:solidFill>
                  <a:srgbClr val="888888"/>
                </a:solidFill>
                <a:latin typeface="Segoe UI"/>
              </a:rPr>
              <a:t>tip per mile, all card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75620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Segoe UI"/>
              </a:rPr>
              <a:t>The first result came from the payment type, not from the vehicle type: cash tips are not recorded in TLC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dirty="0">
                <a:solidFill>
                  <a:srgbClr val="333333"/>
                </a:solidFill>
              </a:rPr>
              <a:t>Night hours pay the most per minute; slow afternoon traffic pays the least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20691-B5DC-2D8E-6CD7-AA5197A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NYC Yellow Taxi · May–June 2020 · Source: NYC TLC trip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33142-8036-EEFC-39E1-2FAC47CF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 descr="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7562088" cy="337282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009819" y="1691640"/>
            <a:ext cx="365760" cy="2697480"/>
          </a:xfrm>
          <a:prstGeom prst="ellipse">
            <a:avLst/>
          </a:prstGeom>
          <a:noFill/>
          <a:ln w="28575">
            <a:solidFill>
              <a:srgbClr val="E4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42216" y="2468880"/>
            <a:ext cx="365760" cy="1920240"/>
          </a:xfrm>
          <a:prstGeom prst="ellipse">
            <a:avLst/>
          </a:prstGeom>
          <a:noFill/>
          <a:ln w="28575">
            <a:solidFill>
              <a:srgbClr val="E46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5048" y="129844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$1.722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per minute at 04:00, the best 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239572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$1.203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per minute at 15:00, the worst hour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048" y="3493008"/>
            <a:ext cx="33467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4A80"/>
                </a:solidFill>
                <a:latin typeface="Segoe UI"/>
              </a:rPr>
              <a:t>29 vs 14 mph</a:t>
            </a:r>
          </a:p>
          <a:p>
            <a:r>
              <a:rPr sz="1200" b="0">
                <a:solidFill>
                  <a:srgbClr val="888888"/>
                </a:solidFill>
                <a:latin typeface="Segoe UI"/>
              </a:rPr>
              <a:t>traffic speed at 04:00 vs 14:00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048" y="4846320"/>
            <a:ext cx="33467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Segoe UI"/>
              </a:rPr>
              <a:t>The busiest hours are the slowest, so they pay the least per minute ($1.248 vs $1.390 for other hours).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333333"/>
                </a:solidFill>
              </a:rPr>
              <a:t>What to do with these results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20691-B5DC-2D8E-6CD7-AA5197A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NYC Yellow Taxi · May–June 2020 · Source: NYC TLC trip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33142-8036-EEFC-39E1-2FAC47CF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540410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4A80"/>
                </a:solidFill>
                <a:latin typeface="Segoe UI"/>
              </a:rPr>
              <a:t>Vendor</a:t>
            </a:r>
          </a:p>
          <a:p>
            <a:r>
              <a:rPr sz="1600" b="0">
                <a:solidFill>
                  <a:srgbClr val="333333"/>
                </a:solidFill>
                <a:latin typeface="Segoe UI"/>
              </a:rPr>
              <a:t>• Plan the most cars for weekday afternoons, 13:00–17:00 (35.4% of trips), and for Friday and Tuesday.</a:t>
            </a:r>
          </a:p>
          <a:p>
            <a:r>
              <a:rPr sz="1600" b="0">
                <a:solidFill>
                  <a:srgbClr val="333333"/>
                </a:solidFill>
                <a:latin typeface="Segoe UI"/>
              </a:rPr>
              <a:t>• Keep supply in Manhattan (86.37% of pickups); treat airports as few trips with high value ($48.20 per JFK pickup).</a:t>
            </a:r>
          </a:p>
          <a:p>
            <a:r>
              <a:rPr sz="1600" b="0">
                <a:solidFill>
                  <a:srgbClr val="333333"/>
                </a:solidFill>
                <a:latin typeface="Segoe UI"/>
              </a:rPr>
              <a:t>• Plan for empty returns: Brooklyn, the Bronx and Queens receive more trips than they send.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0488" y="1298448"/>
            <a:ext cx="540410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4A80"/>
                </a:solidFill>
                <a:latin typeface="Segoe UI"/>
              </a:rPr>
              <a:t>Driver</a:t>
            </a:r>
          </a:p>
          <a:p>
            <a:r>
              <a:rPr sz="1600" b="0">
                <a:solidFill>
                  <a:srgbClr val="333333"/>
                </a:solidFill>
                <a:latin typeface="Segoe UI"/>
              </a:rPr>
              <a:t>• Per minute, night hours pay the most ($1.722 at 04:00), but there are fewer passengers.</a:t>
            </a:r>
          </a:p>
          <a:p>
            <a:r>
              <a:rPr sz="1600" b="0">
                <a:solidFill>
                  <a:srgbClr val="333333"/>
                </a:solidFill>
                <a:latin typeface="Segoe UI"/>
              </a:rPr>
              <a:t>• The JFK flat fare pays $61.29 per trip for 27.81 minutes (6,693 trips).</a:t>
            </a:r>
          </a:p>
          <a:p>
            <a:r>
              <a:rPr sz="1600" b="0">
                <a:solidFill>
                  <a:srgbClr val="333333"/>
                </a:solidFill>
                <a:latin typeface="Segoe UI"/>
              </a:rPr>
              <a:t>• The weekday matters little (5.5% gap); the hour and the place matter more.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333333"/>
                </a:solidFill>
              </a:rPr>
              <a:t>Limits of this analysis and next steps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20691-B5DC-2D8E-6CD7-AA5197A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NYC Yellow Taxi · May–June 2020 · Source: NYC TLC trip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33142-8036-EEFC-39E1-2FAC47CF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1886-1D64-4BE5-B20B-6B36F6AC275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65408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4A80"/>
                </a:solidFill>
                <a:latin typeface="Segoe UI"/>
              </a:rPr>
              <a:t>Limits</a:t>
            </a:r>
          </a:p>
          <a:p>
            <a:r>
              <a:rPr sz="1600" b="0">
                <a:solidFill>
                  <a:srgbClr val="333333"/>
                </a:solidFill>
                <a:latin typeface="Segoe UI"/>
              </a:rPr>
              <a:t>• Cash tips are not recorded, so tip results use card payments only.</a:t>
            </a:r>
          </a:p>
          <a:p>
            <a:r>
              <a:rPr sz="1600" b="0">
                <a:solidFill>
                  <a:srgbClr val="333333"/>
                </a:solidFill>
                <a:latin typeface="Segoe UI"/>
              </a:rPr>
              <a:t>• Minutes are trip time only; waiting time between trips is not in the data.</a:t>
            </a:r>
          </a:p>
          <a:p>
            <a:r>
              <a:rPr sz="1600" b="0">
                <a:solidFill>
                  <a:srgbClr val="333333"/>
                </a:solidFill>
                <a:latin typeface="Segoe UI"/>
              </a:rPr>
              <a:t>• There is no vehicle or driver ID, so income per shift or per car is unknown.</a:t>
            </a:r>
          </a:p>
          <a:p>
            <a:r>
              <a:rPr sz="1600" b="0">
                <a:solidFill>
                  <a:srgbClr val="333333"/>
                </a:solidFill>
                <a:latin typeface="Segoe UI"/>
              </a:rPr>
              <a:t>• May–June 2020 was the start of the recovery after the lockdown; the results describe that period only.</a:t>
            </a:r>
          </a:p>
          <a:p>
            <a:endParaRPr sz="1600" b="0">
              <a:solidFill>
                <a:srgbClr val="333333"/>
              </a:solidFill>
              <a:latin typeface="Segoe UI"/>
            </a:endParaRPr>
          </a:p>
          <a:p>
            <a:r>
              <a:rPr sz="2000" b="1">
                <a:solidFill>
                  <a:srgbClr val="0B4A80"/>
                </a:solidFill>
                <a:latin typeface="Segoe UI"/>
              </a:rPr>
              <a:t>Next steps</a:t>
            </a:r>
          </a:p>
          <a:p>
            <a:r>
              <a:rPr sz="1600" b="0">
                <a:solidFill>
                  <a:srgbClr val="333333"/>
                </a:solidFill>
                <a:latin typeface="Segoe UI"/>
              </a:rPr>
              <a:t>• Repeat the analysis on a full year of TLC data to compare with normal demand.</a:t>
            </a:r>
          </a:p>
          <a:p>
            <a:r>
              <a:rPr sz="1600" b="0">
                <a:solidFill>
                  <a:srgbClr val="333333"/>
                </a:solidFill>
                <a:latin typeface="Segoe UI"/>
              </a:rPr>
              <a:t>• Add the drop-off zone to the income analysis to measure empty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YC Tax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1265</Words>
  <Application>Microsoft Office PowerPoint</Application>
  <PresentationFormat>Widescreen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Semibold</vt:lpstr>
      <vt:lpstr>Office Theme</vt:lpstr>
      <vt:lpstr>NYC Yellow Taxi: when, where and how drivers earn</vt:lpstr>
      <vt:lpstr>The data: 891,523 trips, checked in SQL and matched to TLC counts</vt:lpstr>
      <vt:lpstr>Private cars are about 82% of trips every day; Friday and Tuesday are the busiest</vt:lpstr>
      <vt:lpstr>Demand peaks 13:00–17:00 on weekdays, with no morning rush</vt:lpstr>
      <vt:lpstr>Manhattan has 86% of pickups, but trips that start outside it pay about twice as much</vt:lpstr>
      <vt:lpstr>Sunday and Friday pay the most per trip, but the gap between days is only 5.5%</vt:lpstr>
      <vt:lpstr>Tips per mile are about the same for every vehicle type once only card tips are counted</vt:lpstr>
      <vt:lpstr>Night hours pay the most per minute; slow afternoon traffic pays the least</vt:lpstr>
      <vt:lpstr>What to do with these results</vt:lpstr>
      <vt:lpstr>Limits of this analysis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Iana</dc:creator>
  <cp:lastModifiedBy>Angel Iana</cp:lastModifiedBy>
  <cp:revision>8</cp:revision>
  <dcterms:created xsi:type="dcterms:W3CDTF">2026-10-12T18:47:29Z</dcterms:created>
  <dcterms:modified xsi:type="dcterms:W3CDTF">2026-10-13T09:29:44Z</dcterms:modified>
</cp:coreProperties>
</file>